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2" r:id="rId3"/>
    <p:sldId id="320" r:id="rId4"/>
    <p:sldId id="313" r:id="rId5"/>
    <p:sldId id="312" r:id="rId6"/>
    <p:sldId id="321" r:id="rId7"/>
    <p:sldId id="322" r:id="rId8"/>
    <p:sldId id="323" r:id="rId9"/>
    <p:sldId id="328" r:id="rId10"/>
    <p:sldId id="324" r:id="rId11"/>
    <p:sldId id="329" r:id="rId12"/>
    <p:sldId id="325" r:id="rId13"/>
    <p:sldId id="32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899FCC8-BDEB-4F7D-8861-031E8FED4F4A}">
          <p14:sldIdLst>
            <p14:sldId id="256"/>
            <p14:sldId id="282"/>
            <p14:sldId id="320"/>
            <p14:sldId id="313"/>
            <p14:sldId id="312"/>
            <p14:sldId id="321"/>
            <p14:sldId id="322"/>
            <p14:sldId id="323"/>
            <p14:sldId id="328"/>
            <p14:sldId id="324"/>
            <p14:sldId id="329"/>
            <p14:sldId id="325"/>
            <p14:sldId id="32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1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404" autoAdjust="0"/>
  </p:normalViewPr>
  <p:slideViewPr>
    <p:cSldViewPr snapToGrid="0">
      <p:cViewPr>
        <p:scale>
          <a:sx n="75" d="100"/>
          <a:sy n="75" d="100"/>
        </p:scale>
        <p:origin x="931" y="3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8/6/2026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hyperlink" Target="https://pure.kaist.ac.kr/en/publications/adaptive-hotel-rate-prediction-using-external-data-a-competitor-d/?utm_source=chatgpt.com" TargetMode="External"/><Relationship Id="rId4" Type="http://schemas.openxmlformats.org/officeDocument/2006/relationships/hyperlink" Target="https://www.sciencedirect.com/science/article/pii/S0278431922000469?utm_source=chatgpt.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78885" y="1710266"/>
            <a:ext cx="6900334" cy="1043379"/>
          </a:xfrm>
        </p:spPr>
        <p:txBody>
          <a:bodyPr>
            <a:normAutofit/>
          </a:bodyPr>
          <a:lstStyle/>
          <a:p>
            <a:pPr>
              <a:lnSpc>
                <a:spcPct val="150000"/>
              </a:lnSpc>
            </a:pPr>
            <a:r>
              <a:rPr lang="en-US" sz="2000" b="1" dirty="0">
                <a:latin typeface="Times New Roman" panose="02020603050405020304" pitchFamily="18" charset="0"/>
                <a:cs typeface="Times New Roman" panose="02020603050405020304" pitchFamily="18" charset="0"/>
              </a:rPr>
              <a:t>CAPSTONE PROJECT PRESENTATION</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CSA0905 – PROGRAMMING IN JAVA</a:t>
            </a:r>
          </a:p>
        </p:txBody>
      </p:sp>
      <p:pic>
        <p:nvPicPr>
          <p:cNvPr id="4" name="Picture 2" descr="SSE-Computer Science and Enginee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8867" y="237272"/>
            <a:ext cx="10972800" cy="11089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989496" y="3122884"/>
            <a:ext cx="6533637" cy="707886"/>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Intelligent Hotel Reservation and Dynamic Pricing Management System</a:t>
            </a:r>
            <a:endParaRPr lang="en-IN" sz="2000" b="1" dirty="0">
              <a:latin typeface="Times New Roman" panose="02020603050405020304" pitchFamily="18" charset="0"/>
              <a:cs typeface="Times New Roman" panose="02020603050405020304" pitchFamily="18" charset="0"/>
            </a:endParaRPr>
          </a:p>
        </p:txBody>
      </p:sp>
      <p:sp>
        <p:nvSpPr>
          <p:cNvPr id="8" name="TextBox 2"/>
          <p:cNvSpPr txBox="1"/>
          <p:nvPr/>
        </p:nvSpPr>
        <p:spPr>
          <a:xfrm>
            <a:off x="8165505" y="4785936"/>
            <a:ext cx="3357628" cy="1323439"/>
          </a:xfrm>
          <a:prstGeom prst="rect">
            <a:avLst/>
          </a:prstGeom>
          <a:noFill/>
        </p:spPr>
        <p:txBody>
          <a:bodyPr rot="0" spcFirstLastPara="0" vert="horz" wrap="square" lIns="91440" tIns="45720" rIns="91440" bIns="45720"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000" b="1" dirty="0">
                <a:latin typeface="Times New Roman" panose="02020603050405020304"/>
                <a:ea typeface="Calibri" panose="020F0502020204030204"/>
                <a:cs typeface="Calibri" panose="020F0502020204030204"/>
              </a:rPr>
              <a:t>Done By</a:t>
            </a:r>
          </a:p>
          <a:p>
            <a:r>
              <a:rPr lang="en-GB" sz="2000" dirty="0">
                <a:latin typeface="Times New Roman" panose="02020603050405020304"/>
                <a:ea typeface="Calibri" panose="020F0502020204030204"/>
                <a:cs typeface="Calibri" panose="020F0502020204030204"/>
              </a:rPr>
              <a:t>Jay Adhithiya R – 192321048</a:t>
            </a:r>
            <a:br>
              <a:rPr lang="en-GB" sz="2000" dirty="0">
                <a:latin typeface="Times New Roman" panose="02020603050405020304"/>
                <a:ea typeface="Calibri" panose="020F0502020204030204"/>
                <a:cs typeface="Calibri" panose="020F0502020204030204"/>
              </a:rPr>
            </a:br>
            <a:r>
              <a:rPr lang="en-GB" sz="2000" dirty="0">
                <a:latin typeface="Times New Roman" panose="02020603050405020304"/>
                <a:ea typeface="Calibri" panose="020F0502020204030204"/>
                <a:cs typeface="Calibri" panose="020F0502020204030204"/>
              </a:rPr>
              <a:t>M. Sripathi – 192311182</a:t>
            </a:r>
          </a:p>
          <a:p>
            <a:r>
              <a:rPr lang="en-GB" sz="2000" dirty="0">
                <a:latin typeface="Times New Roman" panose="02020603050405020304"/>
                <a:ea typeface="Calibri" panose="020F0502020204030204"/>
                <a:cs typeface="Calibri" panose="020F0502020204030204"/>
              </a:rPr>
              <a:t>Pranay km - 192321055</a:t>
            </a:r>
          </a:p>
        </p:txBody>
      </p:sp>
      <p:sp>
        <p:nvSpPr>
          <p:cNvPr id="6" name="TextBox 2">
            <a:extLst>
              <a:ext uri="{FF2B5EF4-FFF2-40B4-BE49-F238E27FC236}">
                <a16:creationId xmlns:a16="http://schemas.microsoft.com/office/drawing/2014/main" id="{27D22B3F-EBC3-2470-B45F-0CB5CCE2DBB4}"/>
              </a:ext>
            </a:extLst>
          </p:cNvPr>
          <p:cNvSpPr txBox="1"/>
          <p:nvPr/>
        </p:nvSpPr>
        <p:spPr>
          <a:xfrm>
            <a:off x="5140554" y="4785936"/>
            <a:ext cx="1910892" cy="707886"/>
          </a:xfrm>
          <a:prstGeom prst="rect">
            <a:avLst/>
          </a:prstGeom>
          <a:noFill/>
        </p:spPr>
        <p:txBody>
          <a:bodyPr rot="0" spcFirstLastPara="0" vert="horz" wrap="square" lIns="91440" tIns="45720" rIns="91440" bIns="45720" numCol="1" spcCol="0" rtlCol="0" fromWordArt="0" anchor="t" anchorCtr="0" forceAA="0" compatLnSpc="1">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2000" b="1" dirty="0">
                <a:latin typeface="Times New Roman" panose="02020603050405020304"/>
                <a:ea typeface="Calibri" panose="020F0502020204030204"/>
                <a:cs typeface="Calibri" panose="020F0502020204030204"/>
              </a:rPr>
              <a:t>Guided By</a:t>
            </a:r>
          </a:p>
          <a:p>
            <a:r>
              <a:rPr lang="en-GB" sz="2000" dirty="0">
                <a:latin typeface="Times New Roman" panose="02020603050405020304"/>
                <a:ea typeface="Calibri" panose="020F0502020204030204"/>
                <a:cs typeface="Calibri" panose="020F0502020204030204"/>
              </a:rPr>
              <a:t>Dr. Sivasankar</a:t>
            </a:r>
          </a:p>
        </p:txBody>
      </p:sp>
      <p:pic>
        <p:nvPicPr>
          <p:cNvPr id="11" name="Picture 10">
            <a:extLst>
              <a:ext uri="{FF2B5EF4-FFF2-40B4-BE49-F238E27FC236}">
                <a16:creationId xmlns:a16="http://schemas.microsoft.com/office/drawing/2014/main" id="{A19DD546-F89F-0F46-2E9B-B1AE2B870F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1940560"/>
            <a:ext cx="4561840" cy="44904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Problem Background</a:t>
            </a:r>
            <a:endParaRPr lang="en-US" sz="3600" b="1" dirty="0">
              <a:latin typeface="Times New Roman" panose="02020603050405020304" pitchFamily="18" charset="0"/>
              <a:ea typeface="Calibri Light" panose="020F0302020204030204"/>
              <a:cs typeface="Times New Roman" panose="02020603050405020304" pitchFamily="18" charset="0"/>
            </a:endParaRPr>
          </a:p>
        </p:txBody>
      </p:sp>
      <p:sp>
        <p:nvSpPr>
          <p:cNvPr id="4" name="Content Placeholder 3">
            <a:extLst>
              <a:ext uri="{FF2B5EF4-FFF2-40B4-BE49-F238E27FC236}">
                <a16:creationId xmlns:a16="http://schemas.microsoft.com/office/drawing/2014/main" id="{020E98E6-5905-B0F7-1832-D1C4F9F1BE77}"/>
              </a:ext>
            </a:extLst>
          </p:cNvPr>
          <p:cNvSpPr>
            <a:spLocks noGrp="1"/>
          </p:cNvSpPr>
          <p:nvPr>
            <p:ph idx="1"/>
          </p:nvPr>
        </p:nvSpPr>
        <p:spPr>
          <a:xfrm>
            <a:off x="1202266" y="1654394"/>
            <a:ext cx="10031180" cy="5203606"/>
          </a:xfrm>
        </p:spPr>
        <p:txBody>
          <a:bodyPr>
            <a:noAutofit/>
          </a:bodyPr>
          <a:lstStyle/>
          <a:p>
            <a:pPr marL="0" indent="0">
              <a:buNone/>
            </a:pPr>
            <a:r>
              <a:rPr lang="en-IN" sz="1400" b="1" dirty="0">
                <a:latin typeface="Times New Roman" panose="02020603050405020304" pitchFamily="18" charset="0"/>
                <a:cs typeface="Times New Roman" panose="02020603050405020304" pitchFamily="18" charset="0"/>
              </a:rPr>
              <a:t>Application Domain</a:t>
            </a:r>
          </a:p>
          <a:p>
            <a:r>
              <a:rPr lang="en-IN" sz="1400" dirty="0">
                <a:latin typeface="Times New Roman" panose="02020603050405020304" pitchFamily="18" charset="0"/>
                <a:cs typeface="Times New Roman" panose="02020603050405020304" pitchFamily="18" charset="0"/>
              </a:rPr>
              <a:t>The project belongs to the </a:t>
            </a:r>
            <a:r>
              <a:rPr lang="en-IN" sz="1400" b="1" dirty="0">
                <a:latin typeface="Times New Roman" panose="02020603050405020304" pitchFamily="18" charset="0"/>
                <a:cs typeface="Times New Roman" panose="02020603050405020304" pitchFamily="18" charset="0"/>
              </a:rPr>
              <a:t>Hotel Management and Reservation System</a:t>
            </a:r>
            <a:r>
              <a:rPr lang="en-IN" sz="1400" dirty="0">
                <a:latin typeface="Times New Roman" panose="02020603050405020304" pitchFamily="18" charset="0"/>
                <a:cs typeface="Times New Roman" panose="02020603050405020304" pitchFamily="18" charset="0"/>
              </a:rPr>
              <a:t> domain. It focuses on improving hotel operations through intelligent reservation management, dynamic room pricing, and occupancy monitoring to enhance efficiency and profitability.</a:t>
            </a:r>
          </a:p>
          <a:p>
            <a:pPr marL="0" indent="0">
              <a:buNone/>
            </a:pPr>
            <a:r>
              <a:rPr lang="en-IN" sz="1400" b="1" dirty="0">
                <a:latin typeface="Times New Roman" panose="02020603050405020304" pitchFamily="18" charset="0"/>
                <a:cs typeface="Times New Roman" panose="02020603050405020304" pitchFamily="18" charset="0"/>
              </a:rPr>
              <a:t>Current Scenario</a:t>
            </a:r>
          </a:p>
          <a:p>
            <a:r>
              <a:rPr lang="en-IN" sz="1400" dirty="0">
                <a:latin typeface="Times New Roman" panose="02020603050405020304" pitchFamily="18" charset="0"/>
                <a:cs typeface="Times New Roman" panose="02020603050405020304" pitchFamily="18" charset="0"/>
              </a:rPr>
              <a:t>Many hotels still rely on traditional reservation systems with fixed room pricing and limited decision-support features. These systems often face challenges such as:</a:t>
            </a:r>
          </a:p>
          <a:p>
            <a:pPr lvl="0"/>
            <a:r>
              <a:rPr lang="en-IN" sz="1400" dirty="0">
                <a:latin typeface="Times New Roman" panose="02020603050405020304" pitchFamily="18" charset="0"/>
                <a:cs typeface="Times New Roman" panose="02020603050405020304" pitchFamily="18" charset="0"/>
              </a:rPr>
              <a:t>Fixed room prices regardless of demand </a:t>
            </a:r>
          </a:p>
          <a:p>
            <a:pPr lvl="0"/>
            <a:r>
              <a:rPr lang="en-IN" sz="1400" dirty="0">
                <a:latin typeface="Times New Roman" panose="02020603050405020304" pitchFamily="18" charset="0"/>
                <a:cs typeface="Times New Roman" panose="02020603050405020304" pitchFamily="18" charset="0"/>
              </a:rPr>
              <a:t>Double bookings or room allocation issues </a:t>
            </a:r>
          </a:p>
          <a:p>
            <a:pPr lvl="0"/>
            <a:r>
              <a:rPr lang="en-IN" sz="1400" dirty="0">
                <a:latin typeface="Times New Roman" panose="02020603050405020304" pitchFamily="18" charset="0"/>
                <a:cs typeface="Times New Roman" panose="02020603050405020304" pitchFamily="18" charset="0"/>
              </a:rPr>
              <a:t>Low occupancy during off-peak periods </a:t>
            </a:r>
          </a:p>
          <a:p>
            <a:pPr lvl="0"/>
            <a:r>
              <a:rPr lang="en-IN" sz="1400" dirty="0">
                <a:latin typeface="Times New Roman" panose="02020603050405020304" pitchFamily="18" charset="0"/>
                <a:cs typeface="Times New Roman" panose="02020603050405020304" pitchFamily="18" charset="0"/>
              </a:rPr>
              <a:t>Limited insights into occupancy and revenue trends </a:t>
            </a:r>
          </a:p>
          <a:p>
            <a:pPr marL="0" indent="0">
              <a:buNone/>
            </a:pPr>
            <a:r>
              <a:rPr lang="en-IN" sz="1400" b="1" dirty="0">
                <a:latin typeface="Times New Roman" panose="02020603050405020304" pitchFamily="18" charset="0"/>
                <a:cs typeface="Times New Roman" panose="02020603050405020304" pitchFamily="18" charset="0"/>
              </a:rPr>
              <a:t>Need for the Project</a:t>
            </a:r>
          </a:p>
          <a:p>
            <a:r>
              <a:rPr lang="en-IN" sz="1400" dirty="0">
                <a:latin typeface="Times New Roman" panose="02020603050405020304" pitchFamily="18" charset="0"/>
                <a:cs typeface="Times New Roman" panose="02020603050405020304" pitchFamily="18" charset="0"/>
              </a:rPr>
              <a:t>To develop an intelligent hotel reservation system that automates bookings, optimizes room pricing, improves occupancy, maximizes revenue, and provides real-time operational insights.</a:t>
            </a:r>
          </a:p>
          <a:p>
            <a:pPr marL="0" indent="0">
              <a:buNone/>
            </a:pPr>
            <a:r>
              <a:rPr lang="en-IN" sz="1400" b="1" dirty="0">
                <a:latin typeface="Times New Roman" panose="02020603050405020304" pitchFamily="18" charset="0"/>
                <a:cs typeface="Times New Roman" panose="02020603050405020304" pitchFamily="18" charset="0"/>
              </a:rPr>
              <a:t>Target Users</a:t>
            </a:r>
          </a:p>
          <a:p>
            <a:pPr lvl="0"/>
            <a:r>
              <a:rPr lang="en-IN" sz="1400" b="1" dirty="0">
                <a:latin typeface="Times New Roman" panose="02020603050405020304" pitchFamily="18" charset="0"/>
                <a:cs typeface="Times New Roman" panose="02020603050405020304" pitchFamily="18" charset="0"/>
              </a:rPr>
              <a:t>Hotel Customers</a:t>
            </a:r>
            <a:r>
              <a:rPr lang="en-IN" sz="1400" dirty="0">
                <a:latin typeface="Times New Roman" panose="02020603050405020304" pitchFamily="18" charset="0"/>
                <a:cs typeface="Times New Roman" panose="02020603050405020304" pitchFamily="18" charset="0"/>
              </a:rPr>
              <a:t> – Search, compare, and book rooms online. </a:t>
            </a:r>
          </a:p>
          <a:p>
            <a:pPr lvl="0"/>
            <a:r>
              <a:rPr lang="en-IN" sz="1400" b="1" dirty="0">
                <a:latin typeface="Times New Roman" panose="02020603050405020304" pitchFamily="18" charset="0"/>
                <a:cs typeface="Times New Roman" panose="02020603050405020304" pitchFamily="18" charset="0"/>
              </a:rPr>
              <a:t>Hotel Receptionists/Staff</a:t>
            </a:r>
            <a:r>
              <a:rPr lang="en-IN" sz="1400" dirty="0">
                <a:latin typeface="Times New Roman" panose="02020603050405020304" pitchFamily="18" charset="0"/>
                <a:cs typeface="Times New Roman" panose="02020603050405020304" pitchFamily="18" charset="0"/>
              </a:rPr>
              <a:t> – Manage reservations, check-ins, check-outs, and cancellations. </a:t>
            </a:r>
          </a:p>
        </p:txBody>
      </p:sp>
      <p:pic>
        <p:nvPicPr>
          <p:cNvPr id="17" name="Picture 16">
            <a:extLst>
              <a:ext uri="{FF2B5EF4-FFF2-40B4-BE49-F238E27FC236}">
                <a16:creationId xmlns:a16="http://schemas.microsoft.com/office/drawing/2014/main" id="{48DF94BE-424E-4610-CBED-93EAF9B26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8" name="Picture 17">
            <a:extLst>
              <a:ext uri="{FF2B5EF4-FFF2-40B4-BE49-F238E27FC236}">
                <a16:creationId xmlns:a16="http://schemas.microsoft.com/office/drawing/2014/main" id="{BEE1EE47-10FD-0E64-B592-4987847AA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041E6-23E5-9C55-77ED-FD6D344C2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A8065-E531-7735-E7C6-AC8747FB3205}"/>
              </a:ext>
            </a:extLst>
          </p:cNvPr>
          <p:cNvSpPr>
            <a:spLocks noGrp="1"/>
          </p:cNvSpPr>
          <p:nvPr>
            <p:ph type="title"/>
          </p:nvPr>
        </p:nvSpPr>
        <p:spPr>
          <a:xfrm>
            <a:off x="1117388" y="365125"/>
            <a:ext cx="9540452" cy="793115"/>
          </a:xfrm>
        </p:spPr>
        <p:txBody>
          <a:bodyPr>
            <a:normAutofit/>
          </a:bodyPr>
          <a:lstStyle/>
          <a:p>
            <a:pPr algn="ctr"/>
            <a:r>
              <a:rPr lang="en-IN" sz="3600" b="1" dirty="0">
                <a:latin typeface="Times New Roman" panose="02020603050405020304" pitchFamily="18" charset="0"/>
                <a:cs typeface="Times New Roman" panose="02020603050405020304" pitchFamily="18" charset="0"/>
              </a:rPr>
              <a:t>Problem Statement</a:t>
            </a:r>
            <a:endParaRPr lang="en-US" sz="3600" b="1" dirty="0">
              <a:latin typeface="Times New Roman" panose="02020603050405020304" pitchFamily="18" charset="0"/>
              <a:ea typeface="Calibri Light" panose="020F0302020204030204"/>
              <a:cs typeface="Times New Roman" panose="02020603050405020304" pitchFamily="18" charset="0"/>
            </a:endParaRPr>
          </a:p>
        </p:txBody>
      </p:sp>
      <p:sp>
        <p:nvSpPr>
          <p:cNvPr id="4" name="Content Placeholder 3">
            <a:extLst>
              <a:ext uri="{FF2B5EF4-FFF2-40B4-BE49-F238E27FC236}">
                <a16:creationId xmlns:a16="http://schemas.microsoft.com/office/drawing/2014/main" id="{9D3DB30B-E9AE-203B-7BD0-220D8CD463C6}"/>
              </a:ext>
            </a:extLst>
          </p:cNvPr>
          <p:cNvSpPr>
            <a:spLocks noGrp="1"/>
          </p:cNvSpPr>
          <p:nvPr>
            <p:ph sz="half" idx="1"/>
          </p:nvPr>
        </p:nvSpPr>
        <p:spPr>
          <a:xfrm>
            <a:off x="1569720" y="1870286"/>
            <a:ext cx="5181600" cy="4351338"/>
          </a:xfrm>
        </p:spPr>
        <p:txBody>
          <a:bodyPr>
            <a:noAutofit/>
          </a:bodyPr>
          <a:lstStyle/>
          <a:p>
            <a:r>
              <a:rPr lang="en-IN" sz="1600" b="1" dirty="0">
                <a:latin typeface="Times New Roman" panose="02020603050405020304" pitchFamily="18" charset="0"/>
                <a:cs typeface="Times New Roman" panose="02020603050405020304" pitchFamily="18" charset="0"/>
              </a:rPr>
              <a:t>Problem Definition</a:t>
            </a:r>
          </a:p>
          <a:p>
            <a:r>
              <a:rPr lang="en-IN" sz="1600" dirty="0">
                <a:latin typeface="Times New Roman" panose="02020603050405020304" pitchFamily="18" charset="0"/>
                <a:cs typeface="Times New Roman" panose="02020603050405020304" pitchFamily="18" charset="0"/>
              </a:rPr>
              <a:t>Hotels often struggle to efficiently manage room reservations while balancing occupancy and revenue. Traditional reservation systems use fixed pricing and manual management, making it difficult to respond to changing customer demand, seasonal trends, and room availability. This results in booking inefficiencies, reduced occupancy, missed revenue opportunities, and a less personalized booking experience for customers.</a:t>
            </a:r>
          </a:p>
          <a:p>
            <a:pPr marL="0" indent="0">
              <a:buNone/>
            </a:pPr>
            <a:r>
              <a:rPr lang="en-IN" sz="1600" b="1" dirty="0">
                <a:latin typeface="Times New Roman" panose="02020603050405020304" pitchFamily="18" charset="0"/>
                <a:cs typeface="Times New Roman" panose="02020603050405020304" pitchFamily="18" charset="0"/>
              </a:rPr>
              <a:t>Evidence / Statistics</a:t>
            </a:r>
          </a:p>
          <a:p>
            <a:pPr lvl="0"/>
            <a:r>
              <a:rPr lang="en-IN" sz="1600" dirty="0">
                <a:latin typeface="Times New Roman" panose="02020603050405020304" pitchFamily="18" charset="0"/>
                <a:cs typeface="Times New Roman" panose="02020603050405020304" pitchFamily="18" charset="0"/>
              </a:rPr>
              <a:t>Dynamic pricing can increase hotel revenue by </a:t>
            </a:r>
            <a:r>
              <a:rPr lang="en-IN" sz="1600" b="1" dirty="0">
                <a:latin typeface="Times New Roman" panose="02020603050405020304" pitchFamily="18" charset="0"/>
                <a:cs typeface="Times New Roman" panose="02020603050405020304" pitchFamily="18" charset="0"/>
              </a:rPr>
              <a:t>5–15%</a:t>
            </a:r>
            <a:r>
              <a:rPr lang="en-IN" sz="1600" dirty="0">
                <a:latin typeface="Times New Roman" panose="02020603050405020304" pitchFamily="18" charset="0"/>
                <a:cs typeface="Times New Roman" panose="02020603050405020304" pitchFamily="18" charset="0"/>
              </a:rPr>
              <a:t>. </a:t>
            </a:r>
          </a:p>
          <a:p>
            <a:pPr lvl="0"/>
            <a:r>
              <a:rPr lang="en-IN" sz="1600" dirty="0">
                <a:latin typeface="Times New Roman" panose="02020603050405020304" pitchFamily="18" charset="0"/>
                <a:cs typeface="Times New Roman" panose="02020603050405020304" pitchFamily="18" charset="0"/>
              </a:rPr>
              <a:t>Hotels with higher occupancy management efficiency achieve better revenue and resource utilization. </a:t>
            </a:r>
          </a:p>
          <a:p>
            <a:pPr lvl="0"/>
            <a:r>
              <a:rPr lang="en-IN" sz="1600" dirty="0">
                <a:latin typeface="Times New Roman" panose="02020603050405020304" pitchFamily="18" charset="0"/>
                <a:cs typeface="Times New Roman" panose="02020603050405020304" pitchFamily="18" charset="0"/>
              </a:rPr>
              <a:t>Online bookings continue to account for a significant share of hotel reservations worldwide.</a:t>
            </a:r>
          </a:p>
          <a:p>
            <a:pPr marL="0" lvl="0" indent="0">
              <a:buNone/>
            </a:pPr>
            <a:endParaRPr lang="en-IN" sz="1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10EECBF7-8062-9685-9F20-3DA373360C19}"/>
              </a:ext>
            </a:extLst>
          </p:cNvPr>
          <p:cNvSpPr>
            <a:spLocks noGrp="1"/>
          </p:cNvSpPr>
          <p:nvPr>
            <p:ph sz="half" idx="2"/>
          </p:nvPr>
        </p:nvSpPr>
        <p:spPr>
          <a:xfrm>
            <a:off x="7117081" y="1864783"/>
            <a:ext cx="4648199" cy="4351338"/>
          </a:xfrm>
        </p:spPr>
        <p:txBody>
          <a:bodyPr>
            <a:normAutofit/>
          </a:bodyPr>
          <a:lstStyle/>
          <a:p>
            <a:pPr marL="0" indent="0">
              <a:buNone/>
            </a:pPr>
            <a:r>
              <a:rPr lang="en-IN" sz="1600" b="1" dirty="0">
                <a:latin typeface="Times New Roman" panose="02020603050405020304" pitchFamily="18" charset="0"/>
                <a:cs typeface="Times New Roman" panose="02020603050405020304" pitchFamily="18" charset="0"/>
              </a:rPr>
              <a:t>Limitations of Current Systems</a:t>
            </a:r>
          </a:p>
          <a:p>
            <a:pPr lvl="0"/>
            <a:r>
              <a:rPr lang="en-IN" sz="1600" dirty="0">
                <a:latin typeface="Times New Roman" panose="02020603050405020304" pitchFamily="18" charset="0"/>
                <a:cs typeface="Times New Roman" panose="02020603050405020304" pitchFamily="18" charset="0"/>
              </a:rPr>
              <a:t>Fixed room pricing </a:t>
            </a:r>
          </a:p>
          <a:p>
            <a:pPr lvl="0"/>
            <a:r>
              <a:rPr lang="en-IN" sz="1600" dirty="0">
                <a:latin typeface="Times New Roman" panose="02020603050405020304" pitchFamily="18" charset="0"/>
                <a:cs typeface="Times New Roman" panose="02020603050405020304" pitchFamily="18" charset="0"/>
              </a:rPr>
              <a:t>Manual reservation handling </a:t>
            </a:r>
          </a:p>
          <a:p>
            <a:pPr lvl="0"/>
            <a:r>
              <a:rPr lang="en-IN" sz="1600" dirty="0">
                <a:latin typeface="Times New Roman" panose="02020603050405020304" pitchFamily="18" charset="0"/>
                <a:cs typeface="Times New Roman" panose="02020603050405020304" pitchFamily="18" charset="0"/>
              </a:rPr>
              <a:t>Limited occupancy analytics </a:t>
            </a:r>
          </a:p>
          <a:p>
            <a:pPr lvl="0"/>
            <a:r>
              <a:rPr lang="en-IN" sz="1600" dirty="0">
                <a:latin typeface="Times New Roman" panose="02020603050405020304" pitchFamily="18" charset="0"/>
                <a:cs typeface="Times New Roman" panose="02020603050405020304" pitchFamily="18" charset="0"/>
              </a:rPr>
              <a:t>Inefficient revenue optimization</a:t>
            </a:r>
          </a:p>
          <a:p>
            <a:pPr marL="0" indent="0">
              <a:buNone/>
            </a:pPr>
            <a:r>
              <a:rPr lang="en-IN" sz="1600" b="1" dirty="0">
                <a:latin typeface="Times New Roman" panose="02020603050405020304" pitchFamily="18" charset="0"/>
                <a:cs typeface="Times New Roman" panose="02020603050405020304" pitchFamily="18" charset="0"/>
              </a:rPr>
              <a:t>Expected Impact</a:t>
            </a:r>
          </a:p>
          <a:p>
            <a:pPr lvl="0"/>
            <a:r>
              <a:rPr lang="en-IN" sz="1600" dirty="0">
                <a:latin typeface="Times New Roman" panose="02020603050405020304" pitchFamily="18" charset="0"/>
                <a:cs typeface="Times New Roman" panose="02020603050405020304" pitchFamily="18" charset="0"/>
              </a:rPr>
              <a:t>Improved reservation efficiency </a:t>
            </a:r>
          </a:p>
          <a:p>
            <a:pPr lvl="0"/>
            <a:r>
              <a:rPr lang="en-IN" sz="1600" dirty="0">
                <a:latin typeface="Times New Roman" panose="02020603050405020304" pitchFamily="18" charset="0"/>
                <a:cs typeface="Times New Roman" panose="02020603050405020304" pitchFamily="18" charset="0"/>
              </a:rPr>
              <a:t>Optimized room occupancy </a:t>
            </a:r>
          </a:p>
          <a:p>
            <a:pPr lvl="0"/>
            <a:r>
              <a:rPr lang="en-IN" sz="1600" dirty="0">
                <a:latin typeface="Times New Roman" panose="02020603050405020304" pitchFamily="18" charset="0"/>
                <a:cs typeface="Times New Roman" panose="02020603050405020304" pitchFamily="18" charset="0"/>
              </a:rPr>
              <a:t>Increased hotel revenue </a:t>
            </a:r>
          </a:p>
          <a:p>
            <a:pPr lvl="0"/>
            <a:r>
              <a:rPr lang="en-IN" sz="1600" dirty="0">
                <a:latin typeface="Times New Roman" panose="02020603050405020304" pitchFamily="18" charset="0"/>
                <a:cs typeface="Times New Roman" panose="02020603050405020304" pitchFamily="18" charset="0"/>
              </a:rPr>
              <a:t>Better customer experience </a:t>
            </a:r>
          </a:p>
          <a:p>
            <a:pPr lvl="0"/>
            <a:r>
              <a:rPr lang="en-IN" sz="1600" dirty="0">
                <a:latin typeface="Times New Roman" panose="02020603050405020304" pitchFamily="18" charset="0"/>
                <a:cs typeface="Times New Roman" panose="02020603050405020304" pitchFamily="18" charset="0"/>
              </a:rPr>
              <a:t>Data-driven decision making</a:t>
            </a:r>
          </a:p>
          <a:p>
            <a:pPr marL="0" lvl="0" indent="0" algn="just">
              <a:lnSpc>
                <a:spcPct val="150000"/>
              </a:lnSpc>
              <a:buNone/>
            </a:pPr>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9E1BB090-A003-7427-B28E-37B50CC4CA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8" name="Picture 17">
            <a:extLst>
              <a:ext uri="{FF2B5EF4-FFF2-40B4-BE49-F238E27FC236}">
                <a16:creationId xmlns:a16="http://schemas.microsoft.com/office/drawing/2014/main" id="{B67D03FF-7097-056A-21C9-0E789E2E8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Tree>
    <p:extLst>
      <p:ext uri="{BB962C8B-B14F-4D97-AF65-F5344CB8AC3E}">
        <p14:creationId xmlns:p14="http://schemas.microsoft.com/office/powerpoint/2010/main" val="779554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C01BA-C8B7-D065-BE4F-D4E780E68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3FEA8E-3EE7-16F9-9D01-BE7A7AC2B514}"/>
              </a:ext>
            </a:extLst>
          </p:cNvPr>
          <p:cNvSpPr>
            <a:spLocks noGrp="1"/>
          </p:cNvSpPr>
          <p:nvPr>
            <p:ph type="title"/>
          </p:nvPr>
        </p:nvSpPr>
        <p:spPr>
          <a:xfrm>
            <a:off x="1706528" y="338594"/>
            <a:ext cx="8610827" cy="779281"/>
          </a:xfrm>
        </p:spPr>
        <p:txBody>
          <a:bodyPr vert="horz" lIns="91440" tIns="45720" rIns="91440" bIns="45720" rtlCol="0" anchor="b">
            <a:normAutofit/>
          </a:bodyPr>
          <a:lstStyle/>
          <a:p>
            <a:pPr algn="ctr"/>
            <a:r>
              <a:rPr lang="en-US" sz="3600" b="1" dirty="0">
                <a:latin typeface="Times New Roman" panose="02020603050405020304" pitchFamily="18" charset="0"/>
                <a:cs typeface="Times New Roman" panose="02020603050405020304" pitchFamily="18" charset="0"/>
              </a:rPr>
              <a:t>OBJECTIVES</a:t>
            </a:r>
          </a:p>
        </p:txBody>
      </p:sp>
      <p:sp>
        <p:nvSpPr>
          <p:cNvPr id="3" name="AutoShape 2">
            <a:extLst>
              <a:ext uri="{FF2B5EF4-FFF2-40B4-BE49-F238E27FC236}">
                <a16:creationId xmlns:a16="http://schemas.microsoft.com/office/drawing/2014/main" id="{C925CDC1-8164-4E96-198D-BB02A2EDE7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5E6BF4F4-0AB9-FEEF-F478-2F9B7248B854}"/>
              </a:ext>
            </a:extLst>
          </p:cNvPr>
          <p:cNvSpPr>
            <a:spLocks noGrp="1"/>
          </p:cNvSpPr>
          <p:nvPr>
            <p:ph idx="1"/>
          </p:nvPr>
        </p:nvSpPr>
        <p:spPr>
          <a:xfrm>
            <a:off x="990600" y="1718733"/>
            <a:ext cx="10515600" cy="4700576"/>
          </a:xfrm>
        </p:spPr>
        <p:txBody>
          <a:bodyPr>
            <a:noAutofit/>
          </a:bodyPr>
          <a:lstStyle/>
          <a:p>
            <a:pPr marL="0" indent="0">
              <a:buNone/>
            </a:pPr>
            <a:r>
              <a:rPr lang="en-IN" sz="1600" b="1" dirty="0">
                <a:latin typeface="Times New Roman" panose="02020603050405020304" pitchFamily="18" charset="0"/>
                <a:cs typeface="Times New Roman" panose="02020603050405020304" pitchFamily="18" charset="0"/>
              </a:rPr>
              <a:t>Primary Objective</a:t>
            </a:r>
          </a:p>
          <a:p>
            <a:r>
              <a:rPr lang="en-IN" sz="1600" dirty="0">
                <a:latin typeface="Times New Roman" panose="02020603050405020304" pitchFamily="18" charset="0"/>
                <a:cs typeface="Times New Roman" panose="02020603050405020304" pitchFamily="18" charset="0"/>
              </a:rPr>
              <a:t>Develop an </a:t>
            </a:r>
            <a:r>
              <a:rPr lang="en-IN" sz="1600" b="1" dirty="0">
                <a:latin typeface="Times New Roman" panose="02020603050405020304" pitchFamily="18" charset="0"/>
                <a:cs typeface="Times New Roman" panose="02020603050405020304" pitchFamily="18" charset="0"/>
              </a:rPr>
              <a:t>Intelligent Hotel Reservation and Dynamic Pricing Management System</a:t>
            </a:r>
            <a:r>
              <a:rPr lang="en-IN" sz="1600" dirty="0">
                <a:latin typeface="Times New Roman" panose="02020603050405020304" pitchFamily="18" charset="0"/>
                <a:cs typeface="Times New Roman" panose="02020603050405020304" pitchFamily="18" charset="0"/>
              </a:rPr>
              <a:t> that automates hotel reservations, optimizes room pricing, and improves occupancy management to maximize operational efficiency and revenue.</a:t>
            </a:r>
          </a:p>
          <a:p>
            <a:pPr marL="0" indent="0">
              <a:buNone/>
            </a:pPr>
            <a:r>
              <a:rPr lang="en-IN" sz="1600" b="1" dirty="0">
                <a:latin typeface="Times New Roman" panose="02020603050405020304" pitchFamily="18" charset="0"/>
                <a:cs typeface="Times New Roman" panose="02020603050405020304" pitchFamily="18" charset="0"/>
              </a:rPr>
              <a:t>Measurable Objectives</a:t>
            </a:r>
          </a:p>
          <a:p>
            <a:pPr lvl="0"/>
            <a:r>
              <a:rPr lang="en-IN" sz="1600" dirty="0">
                <a:latin typeface="Times New Roman" panose="02020603050405020304" pitchFamily="18" charset="0"/>
                <a:cs typeface="Times New Roman" panose="02020603050405020304" pitchFamily="18" charset="0"/>
              </a:rPr>
              <a:t>Automate room reservation and booking management. </a:t>
            </a:r>
          </a:p>
          <a:p>
            <a:pPr lvl="0"/>
            <a:r>
              <a:rPr lang="en-IN" sz="1600" dirty="0">
                <a:latin typeface="Times New Roman" panose="02020603050405020304" pitchFamily="18" charset="0"/>
                <a:cs typeface="Times New Roman" panose="02020603050405020304" pitchFamily="18" charset="0"/>
              </a:rPr>
              <a:t>Implement dynamic pricing based on demand, occupancy, and seasonal factors. </a:t>
            </a:r>
          </a:p>
          <a:p>
            <a:pPr lvl="0"/>
            <a:r>
              <a:rPr lang="en-IN" sz="1600" dirty="0">
                <a:latin typeface="Times New Roman" panose="02020603050405020304" pitchFamily="18" charset="0"/>
                <a:cs typeface="Times New Roman" panose="02020603050405020304" pitchFamily="18" charset="0"/>
              </a:rPr>
              <a:t>Monitor room occupancy and booking status in real time. </a:t>
            </a:r>
          </a:p>
          <a:p>
            <a:pPr lvl="0"/>
            <a:r>
              <a:rPr lang="en-IN" sz="1600" dirty="0">
                <a:latin typeface="Times New Roman" panose="02020603050405020304" pitchFamily="18" charset="0"/>
                <a:cs typeface="Times New Roman" panose="02020603050405020304" pitchFamily="18" charset="0"/>
              </a:rPr>
              <a:t>Generate dashboards and reports for occupancy and revenue analysis. </a:t>
            </a:r>
          </a:p>
          <a:p>
            <a:pPr lvl="0"/>
            <a:r>
              <a:rPr lang="en-IN" sz="1600" dirty="0">
                <a:latin typeface="Times New Roman" panose="02020603050405020304" pitchFamily="18" charset="0"/>
                <a:cs typeface="Times New Roman" panose="02020603050405020304" pitchFamily="18" charset="0"/>
              </a:rPr>
              <a:t>Enhance customer experience through faster and more efficient booking services. </a:t>
            </a:r>
          </a:p>
          <a:p>
            <a:pPr marL="0" indent="0">
              <a:buNone/>
            </a:pPr>
            <a:r>
              <a:rPr lang="en-IN" sz="1600" b="1" dirty="0">
                <a:latin typeface="Times New Roman" panose="02020603050405020304" pitchFamily="18" charset="0"/>
                <a:cs typeface="Times New Roman" panose="02020603050405020304" pitchFamily="18" charset="0"/>
              </a:rPr>
              <a:t>Project Scope</a:t>
            </a:r>
          </a:p>
          <a:p>
            <a:r>
              <a:rPr lang="en-IN" sz="1600" dirty="0">
                <a:latin typeface="Times New Roman" panose="02020603050405020304" pitchFamily="18" charset="0"/>
                <a:cs typeface="Times New Roman" panose="02020603050405020304" pitchFamily="18" charset="0"/>
              </a:rPr>
              <a:t>The project focuses on developing a smart hotel management system that includes reservation management, dynamic room pricing, and occupancy monitoring for customers, hotel staff, and managers. It does not cover external travel agency integration or advanced AI-based forecasting in the initial phase.</a:t>
            </a:r>
          </a:p>
        </p:txBody>
      </p:sp>
      <p:pic>
        <p:nvPicPr>
          <p:cNvPr id="9" name="Picture 8">
            <a:extLst>
              <a:ext uri="{FF2B5EF4-FFF2-40B4-BE49-F238E27FC236}">
                <a16:creationId xmlns:a16="http://schemas.microsoft.com/office/drawing/2014/main" id="{B22098C3-5FF4-6ADE-78EE-5E3C02D05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1" name="Picture 10">
            <a:extLst>
              <a:ext uri="{FF2B5EF4-FFF2-40B4-BE49-F238E27FC236}">
                <a16:creationId xmlns:a16="http://schemas.microsoft.com/office/drawing/2014/main" id="{D0CEBFC9-CD10-BEBA-D02B-169E26BF1D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Tree>
    <p:extLst>
      <p:ext uri="{BB962C8B-B14F-4D97-AF65-F5344CB8AC3E}">
        <p14:creationId xmlns:p14="http://schemas.microsoft.com/office/powerpoint/2010/main" val="151448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45B2F-BBA3-D348-F846-1EA8F8781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AD846-A153-21C2-232D-61EA0A4C6DD9}"/>
              </a:ext>
            </a:extLst>
          </p:cNvPr>
          <p:cNvSpPr>
            <a:spLocks noGrp="1"/>
          </p:cNvSpPr>
          <p:nvPr>
            <p:ph type="title"/>
          </p:nvPr>
        </p:nvSpPr>
        <p:spPr>
          <a:xfrm>
            <a:off x="1617022" y="209291"/>
            <a:ext cx="8610827" cy="779281"/>
          </a:xfrm>
        </p:spPr>
        <p:txBody>
          <a:bodyPr vert="horz" lIns="91440" tIns="45720" rIns="91440" bIns="45720" rtlCol="0" anchor="b">
            <a:normAutofit/>
          </a:bodyPr>
          <a:lstStyle/>
          <a:p>
            <a:pPr algn="ctr"/>
            <a:r>
              <a:rPr lang="en-US" sz="3600" b="1" dirty="0">
                <a:latin typeface="Times New Roman" panose="02020603050405020304" pitchFamily="18" charset="0"/>
                <a:cs typeface="Times New Roman" panose="02020603050405020304" pitchFamily="18" charset="0"/>
              </a:rPr>
              <a:t>LITERATURE REVEIW</a:t>
            </a:r>
          </a:p>
        </p:txBody>
      </p:sp>
      <p:sp>
        <p:nvSpPr>
          <p:cNvPr id="3" name="AutoShape 2">
            <a:extLst>
              <a:ext uri="{FF2B5EF4-FFF2-40B4-BE49-F238E27FC236}">
                <a16:creationId xmlns:a16="http://schemas.microsoft.com/office/drawing/2014/main" id="{081B1A09-FB8F-B4F0-0E34-8BAC8773FF41}"/>
              </a:ext>
            </a:extLst>
          </p:cNvPr>
          <p:cNvSpPr>
            <a:spLocks noChangeAspect="1" noChangeArrowheads="1"/>
          </p:cNvSpPr>
          <p:nvPr/>
        </p:nvSpPr>
        <p:spPr bwMode="auto">
          <a:xfrm>
            <a:off x="5922436"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6239BE72-280A-E1D1-281A-0D99AA82EF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4" y="70325"/>
            <a:ext cx="1083521" cy="1240175"/>
          </a:xfrm>
          <a:prstGeom prst="rect">
            <a:avLst/>
          </a:prstGeom>
        </p:spPr>
      </p:pic>
      <p:pic>
        <p:nvPicPr>
          <p:cNvPr id="18" name="Picture 17">
            <a:extLst>
              <a:ext uri="{FF2B5EF4-FFF2-40B4-BE49-F238E27FC236}">
                <a16:creationId xmlns:a16="http://schemas.microsoft.com/office/drawing/2014/main" id="{BCCA7F0D-0734-EF39-4C88-238C1B80DD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6247" y="91556"/>
            <a:ext cx="1415753" cy="1218944"/>
          </a:xfrm>
          <a:prstGeom prst="rect">
            <a:avLst/>
          </a:prstGeom>
        </p:spPr>
      </p:pic>
      <p:graphicFrame>
        <p:nvGraphicFramePr>
          <p:cNvPr id="7" name="Table 6">
            <a:extLst>
              <a:ext uri="{FF2B5EF4-FFF2-40B4-BE49-F238E27FC236}">
                <a16:creationId xmlns:a16="http://schemas.microsoft.com/office/drawing/2014/main" id="{F0D2FF98-B8F5-1B93-0BFB-EC24DA54BE29}"/>
              </a:ext>
            </a:extLst>
          </p:cNvPr>
          <p:cNvGraphicFramePr>
            <a:graphicFrameLocks noGrp="1"/>
          </p:cNvGraphicFramePr>
          <p:nvPr>
            <p:extLst>
              <p:ext uri="{D42A27DB-BD31-4B8C-83A1-F6EECF244321}">
                <p14:modId xmlns:p14="http://schemas.microsoft.com/office/powerpoint/2010/main" val="165424921"/>
              </p:ext>
            </p:extLst>
          </p:nvPr>
        </p:nvGraphicFramePr>
        <p:xfrm>
          <a:off x="1105812" y="1419860"/>
          <a:ext cx="10242848" cy="4455160"/>
        </p:xfrm>
        <a:graphic>
          <a:graphicData uri="http://schemas.openxmlformats.org/drawingml/2006/table">
            <a:tbl>
              <a:tblPr firstRow="1" bandRow="1">
                <a:tableStyleId>{8799B23B-EC83-4686-B30A-512413B5E67A}</a:tableStyleId>
              </a:tblPr>
              <a:tblGrid>
                <a:gridCol w="2560712">
                  <a:extLst>
                    <a:ext uri="{9D8B030D-6E8A-4147-A177-3AD203B41FA5}">
                      <a16:colId xmlns:a16="http://schemas.microsoft.com/office/drawing/2014/main" val="2243039593"/>
                    </a:ext>
                  </a:extLst>
                </a:gridCol>
                <a:gridCol w="2560712">
                  <a:extLst>
                    <a:ext uri="{9D8B030D-6E8A-4147-A177-3AD203B41FA5}">
                      <a16:colId xmlns:a16="http://schemas.microsoft.com/office/drawing/2014/main" val="3073145093"/>
                    </a:ext>
                  </a:extLst>
                </a:gridCol>
                <a:gridCol w="2560712">
                  <a:extLst>
                    <a:ext uri="{9D8B030D-6E8A-4147-A177-3AD203B41FA5}">
                      <a16:colId xmlns:a16="http://schemas.microsoft.com/office/drawing/2014/main" val="98806004"/>
                    </a:ext>
                  </a:extLst>
                </a:gridCol>
                <a:gridCol w="2560712">
                  <a:extLst>
                    <a:ext uri="{9D8B030D-6E8A-4147-A177-3AD203B41FA5}">
                      <a16:colId xmlns:a16="http://schemas.microsoft.com/office/drawing/2014/main" val="4272180284"/>
                    </a:ext>
                  </a:extLst>
                </a:gridCol>
              </a:tblGrid>
              <a:tr h="370840">
                <a:tc>
                  <a:txBody>
                    <a:bodyPr/>
                    <a:lstStyle/>
                    <a:p>
                      <a:pPr>
                        <a:buNone/>
                      </a:pPr>
                      <a:r>
                        <a:rPr lang="en-IN" sz="1400" b="1" dirty="0"/>
                        <a:t>Paper Title (Year)</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t>Method</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t>Key Contribution</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a:t>Limitation</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6692767"/>
                  </a:ext>
                </a:extLst>
              </a:tr>
              <a:tr h="370840">
                <a:tc>
                  <a:txBody>
                    <a:bodyPr/>
                    <a:lstStyle/>
                    <a:p>
                      <a:pPr>
                        <a:buNone/>
                      </a:pPr>
                      <a:r>
                        <a:rPr lang="en-IN" sz="1400" b="1"/>
                        <a:t>The Wheel of Dynamic Pricing: Towards Open Pricing and One-to-One Pricing in Hotel Revenue Management (2022)</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Big Data Analytics, Dynamic Pricing</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Introduced an open pricing framework for customer-centric hotel revenue management.</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Focuses only on pricing strategy; no reservation module. (</a:t>
                      </a:r>
                      <a:r>
                        <a:rPr lang="en-IN" sz="1400">
                          <a:hlinkClick r:id="rId4" tooltip="The wheel of dynamic pricing: Towards open pricing and one to one pricing in hotel revenue management - ScienceDirect"/>
                        </a:rPr>
                        <a:t>ScienceDirect</a:t>
                      </a:r>
                      <a:r>
                        <a:rPr lang="en-IN" sz="1400"/>
                        <a:t>)</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70842480"/>
                  </a:ext>
                </a:extLst>
              </a:tr>
              <a:tr h="370840">
                <a:tc>
                  <a:txBody>
                    <a:bodyPr/>
                    <a:lstStyle/>
                    <a:p>
                      <a:pPr>
                        <a:buNone/>
                      </a:pPr>
                      <a:r>
                        <a:rPr lang="en-IN" sz="1400" b="1"/>
                        <a:t>Dynamic Pricing with Demand Disaggregation for Hotel Revenue Management (2021)</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Demand Forecasting, Mathematical Optimization</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Improved revenue through demand-based pricing and customer segmentation.</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Does not integrate reservation or occupancy management.</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29167300"/>
                  </a:ext>
                </a:extLst>
              </a:tr>
              <a:tr h="370840">
                <a:tc>
                  <a:txBody>
                    <a:bodyPr/>
                    <a:lstStyle/>
                    <a:p>
                      <a:pPr>
                        <a:buNone/>
                      </a:pPr>
                      <a:r>
                        <a:rPr lang="en-IN" sz="1400" b="1" dirty="0" err="1"/>
                        <a:t>Modeling</a:t>
                      </a:r>
                      <a:r>
                        <a:rPr lang="en-IN" sz="1400" b="1" dirty="0"/>
                        <a:t> Price Elasticity for Occupancy Prediction in </a:t>
                      </a:r>
                      <a:r>
                        <a:rPr lang="en-IN" sz="1400" b="1" dirty="0">
                          <a:latin typeface="Times New Roman" panose="02020603050405020304" pitchFamily="18" charset="0"/>
                          <a:cs typeface="Times New Roman" panose="02020603050405020304" pitchFamily="18" charset="0"/>
                        </a:rPr>
                        <a:t>Hotel</a:t>
                      </a:r>
                      <a:r>
                        <a:rPr lang="en-IN" sz="1400" b="1" dirty="0"/>
                        <a:t> Dynamic Pricing (2022)</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Machine Learning, Price Elasticity</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Predicted occupancy using customer price sensitivity for better pricing decisions.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Limited to pricing and occupancy prediction.</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46607316"/>
                  </a:ext>
                </a:extLst>
              </a:tr>
              <a:tr h="370840">
                <a:tc>
                  <a:txBody>
                    <a:bodyPr/>
                    <a:lstStyle/>
                    <a:p>
                      <a:pPr>
                        <a:buNone/>
                      </a:pPr>
                      <a:r>
                        <a:rPr lang="en-IN" sz="1400" b="1"/>
                        <a:t>Adaptive Hotel Rate Prediction Using External Data: A Competitor-Driven Approach (2025)</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Machine Learning, Competitor Analysis</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Predicted optimal room rates using competitor prices and external market data.</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Does not include booking or hotel management features. (</a:t>
                      </a:r>
                      <a:r>
                        <a:rPr lang="en-IN" sz="1400">
                          <a:hlinkClick r:id="rId5" tooltip="Adaptive Hotel Rate Prediction Using External Data: A Competitor-Driven Approach - Korea Advanced Institute of Science and Technology"/>
                        </a:rPr>
                        <a:t>KAIST</a:t>
                      </a:r>
                      <a:r>
                        <a:rPr lang="en-IN" sz="1400"/>
                        <a:t>)</a:t>
                      </a:r>
                      <a:endParaRPr lang="en-IN" sz="14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36342259"/>
                  </a:ext>
                </a:extLst>
              </a:tr>
              <a:tr h="370840">
                <a:tc>
                  <a:txBody>
                    <a:bodyPr/>
                    <a:lstStyle/>
                    <a:p>
                      <a:pPr>
                        <a:buNone/>
                      </a:pPr>
                      <a:r>
                        <a:rPr lang="en-IN" sz="1400" b="1"/>
                        <a:t>Enhancing Hotel Profitability: Dynamic Pricing with a Sim-Learnheuristic Approach (2026)</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ML + Heuristic Optimization</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t>Proposed real-time pricing optimization to maximize hotel profitability.</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Primarily focuses on revenue optimization rather than complete hotel operations.</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29689559"/>
                  </a:ext>
                </a:extLst>
              </a:tr>
            </a:tbl>
          </a:graphicData>
        </a:graphic>
      </p:graphicFrame>
      <p:sp>
        <p:nvSpPr>
          <p:cNvPr id="11" name="TextBox 10">
            <a:extLst>
              <a:ext uri="{FF2B5EF4-FFF2-40B4-BE49-F238E27FC236}">
                <a16:creationId xmlns:a16="http://schemas.microsoft.com/office/drawing/2014/main" id="{5F8F35EC-E38B-ECF7-B8EF-2B5A0A5754FF}"/>
              </a:ext>
            </a:extLst>
          </p:cNvPr>
          <p:cNvSpPr txBox="1"/>
          <p:nvPr/>
        </p:nvSpPr>
        <p:spPr>
          <a:xfrm>
            <a:off x="1105812" y="5903893"/>
            <a:ext cx="10242848" cy="954107"/>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Research Gap</a:t>
            </a:r>
          </a:p>
          <a:p>
            <a:r>
              <a:rPr lang="en-IN" sz="1400" dirty="0">
                <a:latin typeface="Times New Roman" panose="02020603050405020304" pitchFamily="18" charset="0"/>
                <a:cs typeface="Times New Roman" panose="02020603050405020304" pitchFamily="18" charset="0"/>
              </a:rPr>
              <a:t>Existing studies primarily focus on individual aspects such as dynamic pricing, occupancy prediction, or revenue management, but lack an integrated intelligent system that combines reservation management, dynamic pricing, and real-time occupancy analytics within a single platform.</a:t>
            </a:r>
          </a:p>
        </p:txBody>
      </p:sp>
    </p:spTree>
    <p:extLst>
      <p:ext uri="{BB962C8B-B14F-4D97-AF65-F5344CB8AC3E}">
        <p14:creationId xmlns:p14="http://schemas.microsoft.com/office/powerpoint/2010/main" val="371753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081383-1AC5-E1B1-9599-8BF96D0BDAA8}"/>
              </a:ext>
            </a:extLst>
          </p:cNvPr>
          <p:cNvSpPr>
            <a:spLocks noGrp="1"/>
          </p:cNvSpPr>
          <p:nvPr>
            <p:ph type="title"/>
          </p:nvPr>
        </p:nvSpPr>
        <p:spPr>
          <a:xfrm>
            <a:off x="1278467" y="236624"/>
            <a:ext cx="9497780" cy="945375"/>
          </a:xfrm>
        </p:spPr>
        <p:txBody>
          <a:bodyPr>
            <a:normAutofit/>
          </a:bodyPr>
          <a:lstStyle/>
          <a:p>
            <a:pPr algn="ctr"/>
            <a:r>
              <a:rPr lang="en-IN" sz="3600" b="1" dirty="0">
                <a:latin typeface="Times New Roman" panose="02020603050405020304" pitchFamily="18" charset="0"/>
                <a:cs typeface="Times New Roman" panose="02020603050405020304" pitchFamily="18" charset="0"/>
              </a:rPr>
              <a:t>Existing vs Proposed </a:t>
            </a:r>
          </a:p>
        </p:txBody>
      </p:sp>
      <p:sp>
        <p:nvSpPr>
          <p:cNvPr id="8" name="Text Placeholder 7">
            <a:extLst>
              <a:ext uri="{FF2B5EF4-FFF2-40B4-BE49-F238E27FC236}">
                <a16:creationId xmlns:a16="http://schemas.microsoft.com/office/drawing/2014/main" id="{D2FDCE7A-E4BF-FD66-29D4-9DE7785E5171}"/>
              </a:ext>
            </a:extLst>
          </p:cNvPr>
          <p:cNvSpPr>
            <a:spLocks noGrp="1"/>
          </p:cNvSpPr>
          <p:nvPr>
            <p:ph type="body" idx="1"/>
          </p:nvPr>
        </p:nvSpPr>
        <p:spPr>
          <a:xfrm>
            <a:off x="1573212" y="1885186"/>
            <a:ext cx="5157787" cy="823912"/>
          </a:xfrm>
        </p:spPr>
        <p:txBody>
          <a:bodyPr/>
          <a:lstStyle/>
          <a:p>
            <a:r>
              <a:rPr lang="en-IN" dirty="0">
                <a:latin typeface="Times New Roman" panose="02020603050405020304" pitchFamily="18" charset="0"/>
                <a:cs typeface="Times New Roman" panose="02020603050405020304" pitchFamily="18" charset="0"/>
              </a:rPr>
              <a:t>Existing System</a:t>
            </a:r>
          </a:p>
          <a:p>
            <a:endParaRPr lang="en-IN" dirty="0">
              <a:latin typeface="Times New Roman" panose="02020603050405020304" pitchFamily="18" charset="0"/>
              <a:cs typeface="Times New Roman" panose="02020603050405020304" pitchFamily="18" charset="0"/>
            </a:endParaRPr>
          </a:p>
        </p:txBody>
      </p:sp>
      <p:sp>
        <p:nvSpPr>
          <p:cNvPr id="10" name="Text Placeholder 9">
            <a:extLst>
              <a:ext uri="{FF2B5EF4-FFF2-40B4-BE49-F238E27FC236}">
                <a16:creationId xmlns:a16="http://schemas.microsoft.com/office/drawing/2014/main" id="{B19535F6-3128-94F8-5056-9512DFB9955B}"/>
              </a:ext>
            </a:extLst>
          </p:cNvPr>
          <p:cNvSpPr>
            <a:spLocks noGrp="1"/>
          </p:cNvSpPr>
          <p:nvPr>
            <p:ph type="body" sz="quarter" idx="3"/>
          </p:nvPr>
        </p:nvSpPr>
        <p:spPr>
          <a:xfrm>
            <a:off x="6311106" y="1885186"/>
            <a:ext cx="5183188" cy="823912"/>
          </a:xfrm>
        </p:spPr>
        <p:txBody>
          <a:bodyPr/>
          <a:lstStyle/>
          <a:p>
            <a:r>
              <a:rPr lang="en-IN" dirty="0">
                <a:latin typeface="Times New Roman" panose="02020603050405020304" pitchFamily="18" charset="0"/>
                <a:cs typeface="Times New Roman" panose="02020603050405020304" pitchFamily="18" charset="0"/>
              </a:rPr>
              <a:t>Proposed System</a:t>
            </a:r>
          </a:p>
          <a:p>
            <a:endParaRPr lang="en-IN"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2B7704EC-D355-7EC7-19FB-9EB822FFC697}"/>
              </a:ext>
            </a:extLst>
          </p:cNvPr>
          <p:cNvGraphicFramePr>
            <a:graphicFrameLocks noGrp="1"/>
          </p:cNvGraphicFramePr>
          <p:nvPr>
            <p:extLst>
              <p:ext uri="{D42A27DB-BD31-4B8C-83A1-F6EECF244321}">
                <p14:modId xmlns:p14="http://schemas.microsoft.com/office/powerpoint/2010/main" val="1433817872"/>
              </p:ext>
            </p:extLst>
          </p:nvPr>
        </p:nvGraphicFramePr>
        <p:xfrm>
          <a:off x="1514739" y="2109841"/>
          <a:ext cx="9592734" cy="3566160"/>
        </p:xfrm>
        <a:graphic>
          <a:graphicData uri="http://schemas.openxmlformats.org/drawingml/2006/table">
            <a:tbl>
              <a:tblPr/>
              <a:tblGrid>
                <a:gridCol w="4796367">
                  <a:extLst>
                    <a:ext uri="{9D8B030D-6E8A-4147-A177-3AD203B41FA5}">
                      <a16:colId xmlns:a16="http://schemas.microsoft.com/office/drawing/2014/main" val="3311099031"/>
                    </a:ext>
                  </a:extLst>
                </a:gridCol>
                <a:gridCol w="4796367">
                  <a:extLst>
                    <a:ext uri="{9D8B030D-6E8A-4147-A177-3AD203B41FA5}">
                      <a16:colId xmlns:a16="http://schemas.microsoft.com/office/drawing/2014/main" val="3977801420"/>
                    </a:ext>
                  </a:extLst>
                </a:gridCol>
              </a:tblGrid>
              <a:tr h="0">
                <a:tc>
                  <a:txBody>
                    <a:bodyPr/>
                    <a:lstStyle/>
                    <a:p>
                      <a:pPr marL="285750" indent="-285750">
                        <a:buFont typeface="Arial" panose="020B0604020202020204" pitchFamily="34" charset="0"/>
                        <a:buChar char="•"/>
                      </a:pPr>
                      <a:endParaRPr lang="en-IN" dirty="0"/>
                    </a:p>
                  </a:txBody>
                  <a:tcPr anchor="ctr">
                    <a:lnL>
                      <a:noFill/>
                    </a:lnL>
                    <a:lnR>
                      <a:noFill/>
                    </a:lnR>
                    <a:lnT>
                      <a:noFill/>
                    </a:lnT>
                    <a:lnB>
                      <a:noFill/>
                    </a:lnB>
                    <a:noFill/>
                  </a:tcPr>
                </a:tc>
                <a:tc>
                  <a:txBody>
                    <a:bodyPr/>
                    <a:lstStyle/>
                    <a:p>
                      <a:pPr marL="285750" indent="-285750">
                        <a:buFont typeface="Arial" panose="020B0604020202020204" pitchFamily="34" charset="0"/>
                        <a:buChar char="•"/>
                      </a:pPr>
                      <a:endParaRPr lang="en-IN" dirty="0"/>
                    </a:p>
                  </a:txBody>
                  <a:tcPr anchor="ctr">
                    <a:lnL>
                      <a:noFill/>
                    </a:lnL>
                    <a:lnR>
                      <a:noFill/>
                    </a:lnR>
                    <a:lnT>
                      <a:noFill/>
                    </a:lnT>
                    <a:lnB>
                      <a:noFill/>
                    </a:lnB>
                    <a:noFill/>
                  </a:tcPr>
                </a:tc>
                <a:extLst>
                  <a:ext uri="{0D108BD9-81ED-4DB2-BD59-A6C34878D82A}">
                    <a16:rowId xmlns:a16="http://schemas.microsoft.com/office/drawing/2014/main" val="1973444748"/>
                  </a:ext>
                </a:extLst>
              </a:tr>
              <a:tr h="0">
                <a:tc>
                  <a:txBody>
                    <a:bodyPr/>
                    <a:lstStyle/>
                    <a:p>
                      <a:pPr marL="285750" indent="-285750">
                        <a:buFont typeface="Arial" panose="020B0604020202020204" pitchFamily="34" charset="0"/>
                        <a:buChar char="•"/>
                      </a:pPr>
                      <a:r>
                        <a:rPr lang="en-IN" dirty="0"/>
                        <a:t>Online booking with fixed pricing</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dirty="0"/>
                        <a:t>Intelligent dynamic pricing based on demand and occupancy</a:t>
                      </a:r>
                    </a:p>
                  </a:txBody>
                  <a:tcPr anchor="ctr">
                    <a:lnL>
                      <a:noFill/>
                    </a:lnL>
                    <a:lnR>
                      <a:noFill/>
                    </a:lnR>
                    <a:lnT>
                      <a:noFill/>
                    </a:lnT>
                    <a:lnB>
                      <a:noFill/>
                    </a:lnB>
                    <a:noFill/>
                  </a:tcPr>
                </a:tc>
                <a:extLst>
                  <a:ext uri="{0D108BD9-81ED-4DB2-BD59-A6C34878D82A}">
                    <a16:rowId xmlns:a16="http://schemas.microsoft.com/office/drawing/2014/main" val="3666429118"/>
                  </a:ext>
                </a:extLst>
              </a:tr>
              <a:tr h="0">
                <a:tc>
                  <a:txBody>
                    <a:bodyPr/>
                    <a:lstStyle/>
                    <a:p>
                      <a:pPr marL="285750" indent="-285750">
                        <a:buFont typeface="Arial" panose="020B0604020202020204" pitchFamily="34" charset="0"/>
                        <a:buChar char="•"/>
                      </a:pPr>
                      <a:r>
                        <a:rPr lang="en-IN" dirty="0"/>
                        <a:t>Static room availability updates</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a:t>Real-time occupancy monitoring and live availability</a:t>
                      </a:r>
                    </a:p>
                  </a:txBody>
                  <a:tcPr anchor="ctr">
                    <a:lnL>
                      <a:noFill/>
                    </a:lnL>
                    <a:lnR>
                      <a:noFill/>
                    </a:lnR>
                    <a:lnT>
                      <a:noFill/>
                    </a:lnT>
                    <a:lnB>
                      <a:noFill/>
                    </a:lnB>
                    <a:noFill/>
                  </a:tcPr>
                </a:tc>
                <a:extLst>
                  <a:ext uri="{0D108BD9-81ED-4DB2-BD59-A6C34878D82A}">
                    <a16:rowId xmlns:a16="http://schemas.microsoft.com/office/drawing/2014/main" val="3485528976"/>
                  </a:ext>
                </a:extLst>
              </a:tr>
              <a:tr h="0">
                <a:tc>
                  <a:txBody>
                    <a:bodyPr/>
                    <a:lstStyle/>
                    <a:p>
                      <a:pPr marL="285750" indent="-285750">
                        <a:buFont typeface="Arial" panose="020B0604020202020204" pitchFamily="34" charset="0"/>
                        <a:buChar char="•"/>
                      </a:pPr>
                      <a:r>
                        <a:rPr lang="en-IN" dirty="0"/>
                        <a:t>Limited </a:t>
                      </a:r>
                      <a:r>
                        <a:rPr lang="en-IN" dirty="0">
                          <a:latin typeface="Times New Roman" panose="02020603050405020304" pitchFamily="18" charset="0"/>
                          <a:cs typeface="Times New Roman" panose="02020603050405020304" pitchFamily="18" charset="0"/>
                        </a:rPr>
                        <a:t>pricing</a:t>
                      </a:r>
                      <a:r>
                        <a:rPr lang="en-IN" dirty="0"/>
                        <a:t> flexibility</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a:t>Adaptive pricing using season, weekends, holidays, and occupancy</a:t>
                      </a:r>
                    </a:p>
                  </a:txBody>
                  <a:tcPr anchor="ctr">
                    <a:lnL>
                      <a:noFill/>
                    </a:lnL>
                    <a:lnR>
                      <a:noFill/>
                    </a:lnR>
                    <a:lnT>
                      <a:noFill/>
                    </a:lnT>
                    <a:lnB>
                      <a:noFill/>
                    </a:lnB>
                    <a:noFill/>
                  </a:tcPr>
                </a:tc>
                <a:extLst>
                  <a:ext uri="{0D108BD9-81ED-4DB2-BD59-A6C34878D82A}">
                    <a16:rowId xmlns:a16="http://schemas.microsoft.com/office/drawing/2014/main" val="3317852186"/>
                  </a:ext>
                </a:extLst>
              </a:tr>
              <a:tr h="0">
                <a:tc>
                  <a:txBody>
                    <a:bodyPr/>
                    <a:lstStyle/>
                    <a:p>
                      <a:pPr marL="285750" indent="-285750">
                        <a:buFont typeface="Arial" panose="020B0604020202020204" pitchFamily="34" charset="0"/>
                        <a:buChar char="•"/>
                      </a:pPr>
                      <a:r>
                        <a:rPr lang="en-IN"/>
                        <a:t>Basic booking and reporting</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a:t>Interactive dashboards with occupancy and revenue analytics</a:t>
                      </a:r>
                    </a:p>
                  </a:txBody>
                  <a:tcPr anchor="ctr">
                    <a:lnL>
                      <a:noFill/>
                    </a:lnL>
                    <a:lnR>
                      <a:noFill/>
                    </a:lnR>
                    <a:lnT>
                      <a:noFill/>
                    </a:lnT>
                    <a:lnB>
                      <a:noFill/>
                    </a:lnB>
                    <a:noFill/>
                  </a:tcPr>
                </a:tc>
                <a:extLst>
                  <a:ext uri="{0D108BD9-81ED-4DB2-BD59-A6C34878D82A}">
                    <a16:rowId xmlns:a16="http://schemas.microsoft.com/office/drawing/2014/main" val="963293123"/>
                  </a:ext>
                </a:extLst>
              </a:tr>
              <a:tr h="0">
                <a:tc>
                  <a:txBody>
                    <a:bodyPr/>
                    <a:lstStyle/>
                    <a:p>
                      <a:pPr marL="285750" indent="-285750">
                        <a:buFont typeface="Arial" panose="020B0604020202020204" pitchFamily="34" charset="0"/>
                        <a:buChar char="•"/>
                      </a:pPr>
                      <a:r>
                        <a:rPr lang="en-IN" dirty="0"/>
                        <a:t>Separate reservation and pricing functions</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dirty="0"/>
                        <a:t>Integrated reservation, pricing, and occupancy management</a:t>
                      </a:r>
                    </a:p>
                  </a:txBody>
                  <a:tcPr anchor="ctr">
                    <a:lnL>
                      <a:noFill/>
                    </a:lnL>
                    <a:lnR>
                      <a:noFill/>
                    </a:lnR>
                    <a:lnT>
                      <a:noFill/>
                    </a:lnT>
                    <a:lnB>
                      <a:noFill/>
                    </a:lnB>
                    <a:noFill/>
                  </a:tcPr>
                </a:tc>
                <a:extLst>
                  <a:ext uri="{0D108BD9-81ED-4DB2-BD59-A6C34878D82A}">
                    <a16:rowId xmlns:a16="http://schemas.microsoft.com/office/drawing/2014/main" val="2140850975"/>
                  </a:ext>
                </a:extLst>
              </a:tr>
            </a:tbl>
          </a:graphicData>
        </a:graphic>
      </p:graphicFrame>
      <p:pic>
        <p:nvPicPr>
          <p:cNvPr id="13" name="Picture 12">
            <a:extLst>
              <a:ext uri="{FF2B5EF4-FFF2-40B4-BE49-F238E27FC236}">
                <a16:creationId xmlns:a16="http://schemas.microsoft.com/office/drawing/2014/main" id="{6DB82920-FE33-5A74-29C9-6CA08F4254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5" name="Picture 14">
            <a:extLst>
              <a:ext uri="{FF2B5EF4-FFF2-40B4-BE49-F238E27FC236}">
                <a16:creationId xmlns:a16="http://schemas.microsoft.com/office/drawing/2014/main" id="{CF9F0D40-AAC1-7E73-7981-13920A1AFE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6247" y="91556"/>
            <a:ext cx="1415753" cy="1218944"/>
          </a:xfrm>
          <a:prstGeom prst="rect">
            <a:avLst/>
          </a:prstGeom>
        </p:spPr>
      </p:pic>
    </p:spTree>
    <p:extLst>
      <p:ext uri="{BB962C8B-B14F-4D97-AF65-F5344CB8AC3E}">
        <p14:creationId xmlns:p14="http://schemas.microsoft.com/office/powerpoint/2010/main" val="2943691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66FD80B-9831-7D5F-0CA0-8EC0129CF56E}"/>
              </a:ext>
            </a:extLst>
          </p:cNvPr>
          <p:cNvSpPr>
            <a:spLocks noGrp="1"/>
          </p:cNvSpPr>
          <p:nvPr>
            <p:ph type="title"/>
          </p:nvPr>
        </p:nvSpPr>
        <p:spPr>
          <a:xfrm>
            <a:off x="1219200" y="278625"/>
            <a:ext cx="9523180" cy="1031875"/>
          </a:xfrm>
        </p:spPr>
        <p:txBody>
          <a:bodyPr/>
          <a:lstStyle/>
          <a:p>
            <a:pPr algn="ctr"/>
            <a:r>
              <a:rPr lang="en-IN" b="1" dirty="0">
                <a:latin typeface="Times New Roman" panose="02020603050405020304" pitchFamily="18" charset="0"/>
                <a:cs typeface="Times New Roman" panose="02020603050405020304" pitchFamily="18" charset="0"/>
              </a:rPr>
              <a:t>Requirements</a:t>
            </a:r>
          </a:p>
        </p:txBody>
      </p:sp>
      <p:sp>
        <p:nvSpPr>
          <p:cNvPr id="8" name="Content Placeholder 7">
            <a:extLst>
              <a:ext uri="{FF2B5EF4-FFF2-40B4-BE49-F238E27FC236}">
                <a16:creationId xmlns:a16="http://schemas.microsoft.com/office/drawing/2014/main" id="{25C991BB-232D-D9B5-FAB1-DF1B792495C2}"/>
              </a:ext>
            </a:extLst>
          </p:cNvPr>
          <p:cNvSpPr>
            <a:spLocks noGrp="1"/>
          </p:cNvSpPr>
          <p:nvPr>
            <p:ph sz="half" idx="1"/>
          </p:nvPr>
        </p:nvSpPr>
        <p:spPr>
          <a:xfrm>
            <a:off x="1616921" y="1566464"/>
            <a:ext cx="4606080" cy="5055723"/>
          </a:xfrm>
        </p:spPr>
        <p:txBody>
          <a:bodyPr>
            <a:noAutofit/>
          </a:bodyPr>
          <a:lstStyle/>
          <a:p>
            <a:pPr marL="0" indent="0">
              <a:lnSpc>
                <a:spcPct val="100000"/>
              </a:lnSpc>
              <a:buNone/>
            </a:pPr>
            <a:r>
              <a:rPr lang="en-IN" sz="1500" b="1" dirty="0">
                <a:latin typeface="Times New Roman" panose="02020603050405020304" pitchFamily="18" charset="0"/>
                <a:cs typeface="Times New Roman" panose="02020603050405020304" pitchFamily="18" charset="0"/>
              </a:rPr>
              <a:t>Functional Requirements</a:t>
            </a:r>
          </a:p>
          <a:p>
            <a:pPr lvl="0"/>
            <a:r>
              <a:rPr lang="en-IN" sz="1500" dirty="0">
                <a:latin typeface="Times New Roman" panose="02020603050405020304" pitchFamily="18" charset="0"/>
                <a:cs typeface="Times New Roman" panose="02020603050405020304" pitchFamily="18" charset="0"/>
              </a:rPr>
              <a:t>User registration and secure login </a:t>
            </a:r>
          </a:p>
          <a:p>
            <a:pPr lvl="0"/>
            <a:r>
              <a:rPr lang="en-IN" sz="1500" dirty="0">
                <a:latin typeface="Times New Roman" panose="02020603050405020304" pitchFamily="18" charset="0"/>
                <a:cs typeface="Times New Roman" panose="02020603050405020304" pitchFamily="18" charset="0"/>
              </a:rPr>
              <a:t>Room search and online reservation </a:t>
            </a:r>
          </a:p>
          <a:p>
            <a:pPr lvl="0"/>
            <a:r>
              <a:rPr lang="en-IN" sz="1500" dirty="0">
                <a:latin typeface="Times New Roman" panose="02020603050405020304" pitchFamily="18" charset="0"/>
                <a:cs typeface="Times New Roman" panose="02020603050405020304" pitchFamily="18" charset="0"/>
              </a:rPr>
              <a:t>Booking modification and cancellation </a:t>
            </a:r>
          </a:p>
          <a:p>
            <a:pPr lvl="0"/>
            <a:r>
              <a:rPr lang="en-IN" sz="1500" dirty="0">
                <a:latin typeface="Times New Roman" panose="02020603050405020304" pitchFamily="18" charset="0"/>
                <a:cs typeface="Times New Roman" panose="02020603050405020304" pitchFamily="18" charset="0"/>
              </a:rPr>
              <a:t>Dynamic room pricing based on predefined factors </a:t>
            </a:r>
          </a:p>
          <a:p>
            <a:pPr lvl="0"/>
            <a:r>
              <a:rPr lang="en-IN" sz="1500" dirty="0">
                <a:latin typeface="Times New Roman" panose="02020603050405020304" pitchFamily="18" charset="0"/>
                <a:cs typeface="Times New Roman" panose="02020603050405020304" pitchFamily="18" charset="0"/>
              </a:rPr>
              <a:t>Real-time room availability and occupancy tracking </a:t>
            </a:r>
          </a:p>
          <a:p>
            <a:pPr lvl="0"/>
            <a:r>
              <a:rPr lang="en-IN" sz="1500" dirty="0">
                <a:latin typeface="Times New Roman" panose="02020603050405020304" pitchFamily="18" charset="0"/>
                <a:cs typeface="Times New Roman" panose="02020603050405020304" pitchFamily="18" charset="0"/>
              </a:rPr>
              <a:t>Dashboard for occupancy and revenue reports</a:t>
            </a:r>
          </a:p>
          <a:p>
            <a:pPr marL="0" indent="0">
              <a:lnSpc>
                <a:spcPct val="100000"/>
              </a:lnSpc>
              <a:buNone/>
            </a:pPr>
            <a:r>
              <a:rPr lang="en-IN" sz="1500" b="1" dirty="0">
                <a:latin typeface="Times New Roman" panose="02020603050405020304" pitchFamily="18" charset="0"/>
                <a:cs typeface="Times New Roman" panose="02020603050405020304" pitchFamily="18" charset="0"/>
              </a:rPr>
              <a:t>Non-Functional Requirements</a:t>
            </a:r>
          </a:p>
          <a:p>
            <a:pPr lvl="0"/>
            <a:r>
              <a:rPr lang="en-IN" sz="1500" dirty="0">
                <a:latin typeface="Times New Roman" panose="02020603050405020304" pitchFamily="18" charset="0"/>
                <a:cs typeface="Times New Roman" panose="02020603050405020304" pitchFamily="18" charset="0"/>
              </a:rPr>
              <a:t>User-friendly interface </a:t>
            </a:r>
          </a:p>
          <a:p>
            <a:pPr lvl="0"/>
            <a:r>
              <a:rPr lang="en-IN" sz="1500" dirty="0">
                <a:latin typeface="Times New Roman" panose="02020603050405020304" pitchFamily="18" charset="0"/>
                <a:cs typeface="Times New Roman" panose="02020603050405020304" pitchFamily="18" charset="0"/>
              </a:rPr>
              <a:t>Fast response time </a:t>
            </a:r>
          </a:p>
          <a:p>
            <a:pPr lvl="0"/>
            <a:r>
              <a:rPr lang="en-IN" sz="1500" dirty="0">
                <a:latin typeface="Times New Roman" panose="02020603050405020304" pitchFamily="18" charset="0"/>
                <a:cs typeface="Times New Roman" panose="02020603050405020304" pitchFamily="18" charset="0"/>
              </a:rPr>
              <a:t>Data security and access control </a:t>
            </a:r>
          </a:p>
          <a:p>
            <a:pPr lvl="0"/>
            <a:r>
              <a:rPr lang="en-IN" sz="1500" dirty="0">
                <a:latin typeface="Times New Roman" panose="02020603050405020304" pitchFamily="18" charset="0"/>
                <a:cs typeface="Times New Roman" panose="02020603050405020304" pitchFamily="18" charset="0"/>
              </a:rPr>
              <a:t>High system reliability </a:t>
            </a:r>
          </a:p>
          <a:p>
            <a:pPr lvl="0"/>
            <a:r>
              <a:rPr lang="en-IN" sz="1500" dirty="0">
                <a:latin typeface="Times New Roman" panose="02020603050405020304" pitchFamily="18" charset="0"/>
                <a:cs typeface="Times New Roman" panose="02020603050405020304" pitchFamily="18" charset="0"/>
              </a:rPr>
              <a:t>Scalable and maintainable architecture</a:t>
            </a:r>
          </a:p>
          <a:p>
            <a:endParaRPr lang="en-IN" sz="1500"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0A8E9A11-8498-18F9-E5B9-D4F9B3984DC4}"/>
              </a:ext>
            </a:extLst>
          </p:cNvPr>
          <p:cNvSpPr>
            <a:spLocks noGrp="1"/>
          </p:cNvSpPr>
          <p:nvPr>
            <p:ph sz="half" idx="2"/>
          </p:nvPr>
        </p:nvSpPr>
        <p:spPr>
          <a:xfrm>
            <a:off x="6527801" y="1497569"/>
            <a:ext cx="4842933" cy="5057246"/>
          </a:xfrm>
        </p:spPr>
        <p:txBody>
          <a:bodyPr>
            <a:noAutofit/>
          </a:bodyPr>
          <a:lstStyle/>
          <a:p>
            <a:pPr marL="0" indent="0">
              <a:buNone/>
            </a:pPr>
            <a:r>
              <a:rPr lang="en-IN" sz="1400" b="1" dirty="0">
                <a:latin typeface="Times New Roman" panose="02020603050405020304" pitchFamily="18" charset="0"/>
                <a:cs typeface="Times New Roman" panose="02020603050405020304" pitchFamily="18" charset="0"/>
              </a:rPr>
              <a:t>Hardware Requirements</a:t>
            </a:r>
          </a:p>
          <a:p>
            <a:pPr lvl="0"/>
            <a:r>
              <a:rPr lang="en-IN" sz="1400" dirty="0">
                <a:latin typeface="Times New Roman" panose="02020603050405020304" pitchFamily="18" charset="0"/>
                <a:cs typeface="Times New Roman" panose="02020603050405020304" pitchFamily="18" charset="0"/>
              </a:rPr>
              <a:t>Processor: Intel Core i3 or above </a:t>
            </a:r>
          </a:p>
          <a:p>
            <a:pPr lvl="0"/>
            <a:r>
              <a:rPr lang="en-IN" sz="1400" dirty="0">
                <a:latin typeface="Times New Roman" panose="02020603050405020304" pitchFamily="18" charset="0"/>
                <a:cs typeface="Times New Roman" panose="02020603050405020304" pitchFamily="18" charset="0"/>
              </a:rPr>
              <a:t>RAM: 8 GB minimum </a:t>
            </a:r>
          </a:p>
          <a:p>
            <a:pPr lvl="0"/>
            <a:r>
              <a:rPr lang="en-IN" sz="1400" dirty="0">
                <a:latin typeface="Times New Roman" panose="02020603050405020304" pitchFamily="18" charset="0"/>
                <a:cs typeface="Times New Roman" panose="02020603050405020304" pitchFamily="18" charset="0"/>
              </a:rPr>
              <a:t>Internet connection for online booking </a:t>
            </a:r>
          </a:p>
          <a:p>
            <a:pPr marL="0" indent="0">
              <a:buNone/>
            </a:pPr>
            <a:r>
              <a:rPr lang="en-IN" sz="1400" b="1" dirty="0">
                <a:latin typeface="Times New Roman" panose="02020603050405020304" pitchFamily="18" charset="0"/>
                <a:cs typeface="Times New Roman" panose="02020603050405020304" pitchFamily="18" charset="0"/>
              </a:rPr>
              <a:t>Software Requirements</a:t>
            </a:r>
          </a:p>
          <a:p>
            <a:pPr lvl="0"/>
            <a:r>
              <a:rPr lang="en-IN" sz="1400" dirty="0">
                <a:latin typeface="Times New Roman" panose="02020603050405020304" pitchFamily="18" charset="0"/>
                <a:cs typeface="Times New Roman" panose="02020603050405020304" pitchFamily="18" charset="0"/>
              </a:rPr>
              <a:t>Programming Language: </a:t>
            </a:r>
            <a:r>
              <a:rPr lang="en-IN" sz="1400" b="1" dirty="0">
                <a:latin typeface="Times New Roman" panose="02020603050405020304" pitchFamily="18" charset="0"/>
                <a:cs typeface="Times New Roman" panose="02020603050405020304" pitchFamily="18" charset="0"/>
              </a:rPr>
              <a:t>Java</a:t>
            </a:r>
            <a:r>
              <a:rPr lang="en-IN" sz="1400" dirty="0">
                <a:latin typeface="Times New Roman" panose="02020603050405020304" pitchFamily="18" charset="0"/>
                <a:cs typeface="Times New Roman" panose="02020603050405020304" pitchFamily="18" charset="0"/>
              </a:rPr>
              <a:t> </a:t>
            </a:r>
          </a:p>
          <a:p>
            <a:pPr lvl="0"/>
            <a:r>
              <a:rPr lang="en-IN" sz="1400" dirty="0">
                <a:latin typeface="Times New Roman" panose="02020603050405020304" pitchFamily="18" charset="0"/>
                <a:cs typeface="Times New Roman" panose="02020603050405020304" pitchFamily="18" charset="0"/>
              </a:rPr>
              <a:t>Database: </a:t>
            </a:r>
            <a:r>
              <a:rPr lang="en-IN" sz="1400" b="1" dirty="0">
                <a:latin typeface="Times New Roman" panose="02020603050405020304" pitchFamily="18" charset="0"/>
                <a:cs typeface="Times New Roman" panose="02020603050405020304" pitchFamily="18" charset="0"/>
              </a:rPr>
              <a:t>MySQL</a:t>
            </a:r>
            <a:r>
              <a:rPr lang="en-IN" sz="1400" dirty="0">
                <a:latin typeface="Times New Roman" panose="02020603050405020304" pitchFamily="18" charset="0"/>
                <a:cs typeface="Times New Roman" panose="02020603050405020304" pitchFamily="18" charset="0"/>
              </a:rPr>
              <a:t> </a:t>
            </a:r>
          </a:p>
          <a:p>
            <a:pPr lvl="0"/>
            <a:r>
              <a:rPr lang="en-IN" sz="1400" dirty="0">
                <a:latin typeface="Times New Roman" panose="02020603050405020304" pitchFamily="18" charset="0"/>
                <a:cs typeface="Times New Roman" panose="02020603050405020304" pitchFamily="18" charset="0"/>
              </a:rPr>
              <a:t>IDE: </a:t>
            </a:r>
            <a:r>
              <a:rPr lang="en-IN" sz="1400" b="1" dirty="0">
                <a:latin typeface="Times New Roman" panose="02020603050405020304" pitchFamily="18" charset="0"/>
                <a:cs typeface="Times New Roman" panose="02020603050405020304" pitchFamily="18" charset="0"/>
              </a:rPr>
              <a:t>IntelliJ IDEA / Eclipse / NetBeans</a:t>
            </a:r>
            <a:r>
              <a:rPr lang="en-IN" sz="1400" dirty="0">
                <a:latin typeface="Times New Roman" panose="02020603050405020304" pitchFamily="18" charset="0"/>
                <a:cs typeface="Times New Roman" panose="02020603050405020304" pitchFamily="18" charset="0"/>
              </a:rPr>
              <a:t> </a:t>
            </a:r>
          </a:p>
          <a:p>
            <a:pPr lvl="0"/>
            <a:r>
              <a:rPr lang="en-IN" sz="1400" dirty="0">
                <a:latin typeface="Times New Roman" panose="02020603050405020304" pitchFamily="18" charset="0"/>
                <a:cs typeface="Times New Roman" panose="02020603050405020304" pitchFamily="18" charset="0"/>
              </a:rPr>
              <a:t>Operating System: </a:t>
            </a:r>
            <a:r>
              <a:rPr lang="en-IN" sz="1400" b="1" dirty="0">
                <a:latin typeface="Times New Roman" panose="02020603050405020304" pitchFamily="18" charset="0"/>
                <a:cs typeface="Times New Roman" panose="02020603050405020304" pitchFamily="18" charset="0"/>
              </a:rPr>
              <a:t>Windows 10/11</a:t>
            </a:r>
            <a:endParaRPr lang="en-IN" sz="1400" dirty="0">
              <a:latin typeface="Times New Roman" panose="02020603050405020304" pitchFamily="18" charset="0"/>
              <a:cs typeface="Times New Roman" panose="02020603050405020304" pitchFamily="18" charset="0"/>
            </a:endParaRPr>
          </a:p>
          <a:p>
            <a:pPr marL="0" indent="0">
              <a:buNone/>
            </a:pPr>
            <a:r>
              <a:rPr lang="en-IN" sz="1400" b="1" dirty="0">
                <a:latin typeface="Times New Roman" panose="02020603050405020304" pitchFamily="18" charset="0"/>
                <a:cs typeface="Times New Roman" panose="02020603050405020304" pitchFamily="18" charset="0"/>
              </a:rPr>
              <a:t>Dataset </a:t>
            </a:r>
          </a:p>
          <a:p>
            <a:pPr lvl="0"/>
            <a:r>
              <a:rPr lang="en-IN" sz="1400" b="1" dirty="0">
                <a:latin typeface="Times New Roman" panose="02020603050405020304" pitchFamily="18" charset="0"/>
                <a:cs typeface="Times New Roman" panose="02020603050405020304" pitchFamily="18" charset="0"/>
              </a:rPr>
              <a:t>Dataset:</a:t>
            </a:r>
            <a:r>
              <a:rPr lang="en-IN" sz="1400" dirty="0">
                <a:latin typeface="Times New Roman" panose="02020603050405020304" pitchFamily="18" charset="0"/>
                <a:cs typeface="Times New Roman" panose="02020603050405020304" pitchFamily="18" charset="0"/>
              </a:rPr>
              <a:t> Sample hotel reservation and room inventory dataset (for testing and occupancy simulation) </a:t>
            </a:r>
          </a:p>
          <a:p>
            <a:pPr lvl="0"/>
            <a:r>
              <a:rPr lang="en-IN" sz="1400" b="1" dirty="0">
                <a:latin typeface="Times New Roman" panose="02020603050405020304" pitchFamily="18" charset="0"/>
                <a:cs typeface="Times New Roman" panose="02020603050405020304" pitchFamily="18" charset="0"/>
              </a:rPr>
              <a:t>APIs (Optional):</a:t>
            </a:r>
            <a:r>
              <a:rPr lang="en-IN" sz="1400" dirty="0">
                <a:latin typeface="Times New Roman" panose="02020603050405020304" pitchFamily="18" charset="0"/>
                <a:cs typeface="Times New Roman" panose="02020603050405020304" pitchFamily="18" charset="0"/>
              </a:rPr>
              <a:t> </a:t>
            </a:r>
          </a:p>
          <a:p>
            <a:pPr lvl="1"/>
            <a:r>
              <a:rPr lang="en-IN" sz="1400" dirty="0">
                <a:latin typeface="Times New Roman" panose="02020603050405020304" pitchFamily="18" charset="0"/>
                <a:cs typeface="Times New Roman" panose="02020603050405020304" pitchFamily="18" charset="0"/>
              </a:rPr>
              <a:t>Holiday Calendar API (for holiday-based pricing) </a:t>
            </a:r>
          </a:p>
          <a:p>
            <a:pPr lvl="1"/>
            <a:r>
              <a:rPr lang="en-IN" sz="1400" dirty="0">
                <a:latin typeface="Times New Roman" panose="02020603050405020304" pitchFamily="18" charset="0"/>
                <a:cs typeface="Times New Roman" panose="02020603050405020304" pitchFamily="18" charset="0"/>
              </a:rPr>
              <a:t>Weather API (for demand-based pricing) </a:t>
            </a:r>
          </a:p>
          <a:p>
            <a:pPr lvl="1"/>
            <a:r>
              <a:rPr lang="en-IN" sz="1400" dirty="0">
                <a:latin typeface="Times New Roman" panose="02020603050405020304" pitchFamily="18" charset="0"/>
                <a:cs typeface="Times New Roman" panose="02020603050405020304" pitchFamily="18" charset="0"/>
              </a:rPr>
              <a:t>Payment Gateway API (future enhancement) </a:t>
            </a:r>
          </a:p>
          <a:p>
            <a:pPr lvl="1"/>
            <a:r>
              <a:rPr lang="en-IN" sz="1400" dirty="0">
                <a:latin typeface="Times New Roman" panose="02020603050405020304" pitchFamily="18" charset="0"/>
                <a:cs typeface="Times New Roman" panose="02020603050405020304" pitchFamily="18" charset="0"/>
              </a:rPr>
              <a:t>Email/SMS Notification API (booking confirmations)</a:t>
            </a:r>
          </a:p>
        </p:txBody>
      </p:sp>
      <p:pic>
        <p:nvPicPr>
          <p:cNvPr id="11" name="Picture 10">
            <a:extLst>
              <a:ext uri="{FF2B5EF4-FFF2-40B4-BE49-F238E27FC236}">
                <a16:creationId xmlns:a16="http://schemas.microsoft.com/office/drawing/2014/main" id="{E60859F2-EFFD-FB48-4F18-3BC64C4C0E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3" name="Picture 12">
            <a:extLst>
              <a:ext uri="{FF2B5EF4-FFF2-40B4-BE49-F238E27FC236}">
                <a16:creationId xmlns:a16="http://schemas.microsoft.com/office/drawing/2014/main" id="{9781B967-7249-2F3C-3B66-C50C43063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Tree>
    <p:extLst>
      <p:ext uri="{BB962C8B-B14F-4D97-AF65-F5344CB8AC3E}">
        <p14:creationId xmlns:p14="http://schemas.microsoft.com/office/powerpoint/2010/main" val="1698898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E53E548-9C08-4CDA-7697-387608E2A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CEA33-C825-0210-02BD-F1413F0FEA78}"/>
              </a:ext>
            </a:extLst>
          </p:cNvPr>
          <p:cNvSpPr>
            <a:spLocks noGrp="1"/>
          </p:cNvSpPr>
          <p:nvPr>
            <p:ph type="title"/>
          </p:nvPr>
        </p:nvSpPr>
        <p:spPr>
          <a:xfrm>
            <a:off x="1117388" y="236684"/>
            <a:ext cx="9540113" cy="708555"/>
          </a:xfrm>
        </p:spPr>
        <p:txBody>
          <a:bodyPr vert="horz" lIns="91440" tIns="45720" rIns="91440" bIns="45720" rtlCol="0" anchor="b">
            <a:noAutofit/>
          </a:bodyPr>
          <a:lstStyle/>
          <a:p>
            <a:pPr algn="ctr">
              <a:lnSpc>
                <a:spcPct val="150000"/>
              </a:lnSpc>
            </a:pPr>
            <a:r>
              <a:rPr lang="en-US" sz="3600" b="1" dirty="0">
                <a:latin typeface="Times New Roman" panose="02020603050405020304" pitchFamily="18" charset="0"/>
                <a:cs typeface="Times New Roman" panose="02020603050405020304" pitchFamily="18" charset="0"/>
              </a:rPr>
              <a:t>ARCHITECTURE</a:t>
            </a:r>
          </a:p>
        </p:txBody>
      </p:sp>
      <p:pic>
        <p:nvPicPr>
          <p:cNvPr id="7" name="Picture 6">
            <a:extLst>
              <a:ext uri="{FF2B5EF4-FFF2-40B4-BE49-F238E27FC236}">
                <a16:creationId xmlns:a16="http://schemas.microsoft.com/office/drawing/2014/main" id="{4293C62A-6E04-1523-C0A7-09CF3B7BE2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0" name="Picture 9">
            <a:extLst>
              <a:ext uri="{FF2B5EF4-FFF2-40B4-BE49-F238E27FC236}">
                <a16:creationId xmlns:a16="http://schemas.microsoft.com/office/drawing/2014/main" id="{230A097C-D3CE-B99C-0980-C08F4763F8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
        <p:nvSpPr>
          <p:cNvPr id="9" name="Rectangle 8">
            <a:extLst>
              <a:ext uri="{FF2B5EF4-FFF2-40B4-BE49-F238E27FC236}">
                <a16:creationId xmlns:a16="http://schemas.microsoft.com/office/drawing/2014/main" id="{C88B2B93-5373-303A-A29E-DEFC28D3DD01}"/>
              </a:ext>
            </a:extLst>
          </p:cNvPr>
          <p:cNvSpPr/>
          <p:nvPr/>
        </p:nvSpPr>
        <p:spPr>
          <a:xfrm>
            <a:off x="863488" y="1639505"/>
            <a:ext cx="2641711" cy="47498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46866071-6C2B-6EB5-99BF-C3990F05E33E}"/>
              </a:ext>
            </a:extLst>
          </p:cNvPr>
          <p:cNvSpPr/>
          <p:nvPr/>
        </p:nvSpPr>
        <p:spPr>
          <a:xfrm>
            <a:off x="863489" y="1654321"/>
            <a:ext cx="2641710" cy="3640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Users</a:t>
            </a:r>
          </a:p>
        </p:txBody>
      </p:sp>
      <p:sp>
        <p:nvSpPr>
          <p:cNvPr id="12" name="Rectangle 11">
            <a:extLst>
              <a:ext uri="{FF2B5EF4-FFF2-40B4-BE49-F238E27FC236}">
                <a16:creationId xmlns:a16="http://schemas.microsoft.com/office/drawing/2014/main" id="{2F05336A-183D-629B-6840-0C68CCC22624}"/>
              </a:ext>
            </a:extLst>
          </p:cNvPr>
          <p:cNvSpPr/>
          <p:nvPr/>
        </p:nvSpPr>
        <p:spPr>
          <a:xfrm>
            <a:off x="1117383" y="2397272"/>
            <a:ext cx="1989884" cy="1617133"/>
          </a:xfrm>
          <a:prstGeom prst="rect">
            <a:avLst/>
          </a:prstGeom>
          <a:solidFill>
            <a:schemeClr val="bg2"/>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N" dirty="0">
                <a:solidFill>
                  <a:schemeClr val="accent1"/>
                </a:solidFill>
                <a:latin typeface="Times New Roman" panose="02020603050405020304" pitchFamily="18" charset="0"/>
                <a:cs typeface="Times New Roman" panose="02020603050405020304" pitchFamily="18" charset="0"/>
              </a:rPr>
              <a:t>Customers</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Register/login</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Search Rooms</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View Availability</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Book/Cancel booking</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Make payment</a:t>
            </a:r>
            <a:br>
              <a:rPr lang="en-IN" sz="1300" dirty="0">
                <a:solidFill>
                  <a:schemeClr val="tx1"/>
                </a:solidFill>
                <a:latin typeface="Times New Roman" panose="02020603050405020304" pitchFamily="18" charset="0"/>
                <a:cs typeface="Times New Roman" panose="02020603050405020304" pitchFamily="18" charset="0"/>
              </a:rPr>
            </a:br>
            <a:r>
              <a:rPr lang="en-IN" sz="1300" dirty="0">
                <a:solidFill>
                  <a:schemeClr val="tx1"/>
                </a:solidFill>
                <a:latin typeface="Times New Roman" panose="02020603050405020304" pitchFamily="18" charset="0"/>
                <a:cs typeface="Times New Roman" panose="02020603050405020304" pitchFamily="18" charset="0"/>
              </a:rPr>
              <a:t>View Booking History</a:t>
            </a:r>
          </a:p>
        </p:txBody>
      </p:sp>
      <p:sp>
        <p:nvSpPr>
          <p:cNvPr id="13" name="Rectangle 12">
            <a:extLst>
              <a:ext uri="{FF2B5EF4-FFF2-40B4-BE49-F238E27FC236}">
                <a16:creationId xmlns:a16="http://schemas.microsoft.com/office/drawing/2014/main" id="{48A7F79B-41B9-238D-0B93-873E8270F928}"/>
              </a:ext>
            </a:extLst>
          </p:cNvPr>
          <p:cNvSpPr/>
          <p:nvPr/>
        </p:nvSpPr>
        <p:spPr>
          <a:xfrm>
            <a:off x="1117385" y="4303477"/>
            <a:ext cx="1989882" cy="1676400"/>
          </a:xfrm>
          <a:prstGeom prst="rect">
            <a:avLst/>
          </a:prstGeom>
          <a:solidFill>
            <a:schemeClr val="bg2"/>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N" dirty="0">
                <a:solidFill>
                  <a:schemeClr val="accent6">
                    <a:lumMod val="75000"/>
                  </a:schemeClr>
                </a:solidFill>
                <a:latin typeface="Times New Roman" panose="02020603050405020304" pitchFamily="18" charset="0"/>
                <a:cs typeface="Times New Roman" panose="02020603050405020304" pitchFamily="18" charset="0"/>
              </a:rPr>
              <a:t>Staff</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Manage Reservations</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Check in/Check out</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Manage customers</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Room Allocation</a:t>
            </a:r>
          </a:p>
          <a:p>
            <a:pPr marL="285750" indent="-285750">
              <a:buFont typeface="Arial" panose="020B0604020202020204" pitchFamily="34" charset="0"/>
              <a:buChar char="•"/>
            </a:pPr>
            <a:r>
              <a:rPr lang="en-IN" sz="1300" dirty="0">
                <a:solidFill>
                  <a:schemeClr val="tx1"/>
                </a:solidFill>
                <a:latin typeface="Times New Roman" panose="02020603050405020304" pitchFamily="18" charset="0"/>
                <a:cs typeface="Times New Roman" panose="02020603050405020304" pitchFamily="18" charset="0"/>
              </a:rPr>
              <a:t>View Bookings</a:t>
            </a:r>
          </a:p>
        </p:txBody>
      </p:sp>
      <p:sp>
        <p:nvSpPr>
          <p:cNvPr id="14" name="Rectangle 13">
            <a:extLst>
              <a:ext uri="{FF2B5EF4-FFF2-40B4-BE49-F238E27FC236}">
                <a16:creationId xmlns:a16="http://schemas.microsoft.com/office/drawing/2014/main" id="{5CB2F553-31B4-499F-0E0C-CF60593B16AE}"/>
              </a:ext>
            </a:extLst>
          </p:cNvPr>
          <p:cNvSpPr/>
          <p:nvPr/>
        </p:nvSpPr>
        <p:spPr>
          <a:xfrm>
            <a:off x="4490720" y="1654320"/>
            <a:ext cx="6695440" cy="286688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9A909217-476D-A801-54A6-63E4CE87733E}"/>
              </a:ext>
            </a:extLst>
          </p:cNvPr>
          <p:cNvSpPr/>
          <p:nvPr/>
        </p:nvSpPr>
        <p:spPr>
          <a:xfrm>
            <a:off x="4775200" y="2397272"/>
            <a:ext cx="1778000" cy="154480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N" sz="1400" dirty="0">
                <a:solidFill>
                  <a:schemeClr val="accent1"/>
                </a:solidFill>
                <a:latin typeface="Times New Roman" panose="02020603050405020304" pitchFamily="18" charset="0"/>
                <a:cs typeface="Times New Roman" panose="02020603050405020304" pitchFamily="18" charset="0"/>
              </a:rPr>
              <a:t>Reservation Module</a:t>
            </a:r>
          </a:p>
          <a:p>
            <a:pPr marL="285750" indent="-285750">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Handles Search Rooms </a:t>
            </a:r>
          </a:p>
          <a:p>
            <a:pPr marL="285750" indent="-285750">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 Book / Modify / Cancel Reservation </a:t>
            </a:r>
          </a:p>
        </p:txBody>
      </p:sp>
      <p:sp>
        <p:nvSpPr>
          <p:cNvPr id="17" name="Rectangle 16">
            <a:extLst>
              <a:ext uri="{FF2B5EF4-FFF2-40B4-BE49-F238E27FC236}">
                <a16:creationId xmlns:a16="http://schemas.microsoft.com/office/drawing/2014/main" id="{129456DF-4EA8-912C-B920-3F7F2F9E460F}"/>
              </a:ext>
            </a:extLst>
          </p:cNvPr>
          <p:cNvSpPr/>
          <p:nvPr/>
        </p:nvSpPr>
        <p:spPr>
          <a:xfrm>
            <a:off x="4490720" y="1654320"/>
            <a:ext cx="6695440" cy="3640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latin typeface="Times New Roman" panose="02020603050405020304" pitchFamily="18" charset="0"/>
                <a:cs typeface="Times New Roman" panose="02020603050405020304" pitchFamily="18" charset="0"/>
              </a:rPr>
              <a:t>Intelligent Hotel Reservation &amp;  Dynamic Pricing Management System </a:t>
            </a:r>
          </a:p>
        </p:txBody>
      </p:sp>
      <p:sp>
        <p:nvSpPr>
          <p:cNvPr id="19" name="Rectangle 18">
            <a:extLst>
              <a:ext uri="{FF2B5EF4-FFF2-40B4-BE49-F238E27FC236}">
                <a16:creationId xmlns:a16="http://schemas.microsoft.com/office/drawing/2014/main" id="{8316E204-F2E5-B486-C6FC-D60C1FED74E5}"/>
              </a:ext>
            </a:extLst>
          </p:cNvPr>
          <p:cNvSpPr/>
          <p:nvPr/>
        </p:nvSpPr>
        <p:spPr>
          <a:xfrm>
            <a:off x="7010400" y="2397272"/>
            <a:ext cx="1869440" cy="154480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N" sz="1400" dirty="0">
                <a:solidFill>
                  <a:schemeClr val="accent1"/>
                </a:solidFill>
                <a:latin typeface="Times New Roman" panose="02020603050405020304" pitchFamily="18" charset="0"/>
                <a:cs typeface="Times New Roman" panose="02020603050405020304" pitchFamily="18" charset="0"/>
              </a:rPr>
              <a:t>Pricing Engine Module</a:t>
            </a:r>
          </a:p>
          <a:p>
            <a:pPr marL="285750" indent="-285750">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Dynamic Room Pricing</a:t>
            </a:r>
          </a:p>
          <a:p>
            <a:pPr marL="285750" indent="-285750">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Seasonal &amp; Occupancy Pricing </a:t>
            </a:r>
          </a:p>
        </p:txBody>
      </p:sp>
      <p:sp>
        <p:nvSpPr>
          <p:cNvPr id="21" name="Rectangle 20">
            <a:extLst>
              <a:ext uri="{FF2B5EF4-FFF2-40B4-BE49-F238E27FC236}">
                <a16:creationId xmlns:a16="http://schemas.microsoft.com/office/drawing/2014/main" id="{0D6404F8-868E-2CF1-7A9C-8714D7AC953F}"/>
              </a:ext>
            </a:extLst>
          </p:cNvPr>
          <p:cNvSpPr/>
          <p:nvPr/>
        </p:nvSpPr>
        <p:spPr>
          <a:xfrm>
            <a:off x="9184640" y="2397272"/>
            <a:ext cx="1656080" cy="154480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IN" sz="1400" dirty="0">
                <a:solidFill>
                  <a:schemeClr val="accent1"/>
                </a:solidFill>
                <a:latin typeface="Times New Roman" panose="02020603050405020304" pitchFamily="18" charset="0"/>
                <a:cs typeface="Times New Roman" panose="02020603050405020304" pitchFamily="18" charset="0"/>
              </a:rPr>
              <a:t>Occupancy Dashboard Module</a:t>
            </a:r>
          </a:p>
          <a:p>
            <a:pPr marL="285750" indent="-285750">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Room Availability </a:t>
            </a:r>
          </a:p>
          <a:p>
            <a:pPr marL="285750" indent="-285750">
              <a:buFont typeface="Arial" panose="020B0604020202020204" pitchFamily="34" charset="0"/>
              <a:buChar char="•"/>
            </a:pPr>
            <a:r>
              <a:rPr lang="en-IN" sz="1400" dirty="0">
                <a:solidFill>
                  <a:schemeClr val="tx1"/>
                </a:solidFill>
                <a:latin typeface="Times New Roman" panose="02020603050405020304" pitchFamily="18" charset="0"/>
                <a:cs typeface="Times New Roman" panose="02020603050405020304" pitchFamily="18" charset="0"/>
              </a:rPr>
              <a:t>Occupancy Dashboard Module</a:t>
            </a:r>
          </a:p>
        </p:txBody>
      </p:sp>
      <p:pic>
        <p:nvPicPr>
          <p:cNvPr id="34" name="Picture 33">
            <a:extLst>
              <a:ext uri="{FF2B5EF4-FFF2-40B4-BE49-F238E27FC236}">
                <a16:creationId xmlns:a16="http://schemas.microsoft.com/office/drawing/2014/main" id="{512CAB37-1E7B-E1C7-321B-A10FD6625DF6}"/>
              </a:ext>
            </a:extLst>
          </p:cNvPr>
          <p:cNvPicPr>
            <a:picLocks noChangeAspect="1"/>
          </p:cNvPicPr>
          <p:nvPr/>
        </p:nvPicPr>
        <p:blipFill>
          <a:blip r:embed="rId4"/>
          <a:stretch>
            <a:fillRect/>
          </a:stretch>
        </p:blipFill>
        <p:spPr>
          <a:xfrm>
            <a:off x="4368801" y="5049520"/>
            <a:ext cx="6817360" cy="1339785"/>
          </a:xfrm>
          <a:prstGeom prst="rect">
            <a:avLst/>
          </a:prstGeom>
        </p:spPr>
      </p:pic>
      <p:sp>
        <p:nvSpPr>
          <p:cNvPr id="40" name="Arrow: Left-Right 39">
            <a:extLst>
              <a:ext uri="{FF2B5EF4-FFF2-40B4-BE49-F238E27FC236}">
                <a16:creationId xmlns:a16="http://schemas.microsoft.com/office/drawing/2014/main" id="{1F998C18-4423-EAEC-EF6B-C97096C40757}"/>
              </a:ext>
            </a:extLst>
          </p:cNvPr>
          <p:cNvSpPr/>
          <p:nvPr/>
        </p:nvSpPr>
        <p:spPr>
          <a:xfrm>
            <a:off x="3518720" y="3129280"/>
            <a:ext cx="972000" cy="81280"/>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1" name="Arrow: Up-Down 40">
            <a:extLst>
              <a:ext uri="{FF2B5EF4-FFF2-40B4-BE49-F238E27FC236}">
                <a16:creationId xmlns:a16="http://schemas.microsoft.com/office/drawing/2014/main" id="{58B52F40-7E62-0C7D-C26D-32EED6B7E1AF}"/>
              </a:ext>
            </a:extLst>
          </p:cNvPr>
          <p:cNvSpPr/>
          <p:nvPr/>
        </p:nvSpPr>
        <p:spPr>
          <a:xfrm>
            <a:off x="7655561" y="4561840"/>
            <a:ext cx="86359" cy="447040"/>
          </a:xfrm>
          <a:prstGeom prst="upDown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652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51FDB-7588-8DA9-F06E-3C3212C852F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40D419-4F30-9A94-E621-195EEC8E0F6B}"/>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Module description</a:t>
            </a:r>
          </a:p>
        </p:txBody>
      </p:sp>
      <p:pic>
        <p:nvPicPr>
          <p:cNvPr id="13" name="Picture 12">
            <a:extLst>
              <a:ext uri="{FF2B5EF4-FFF2-40B4-BE49-F238E27FC236}">
                <a16:creationId xmlns:a16="http://schemas.microsoft.com/office/drawing/2014/main" id="{2B6C7C2C-66A9-5B0B-5805-C6F74F8DAF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5" name="Picture 14">
            <a:extLst>
              <a:ext uri="{FF2B5EF4-FFF2-40B4-BE49-F238E27FC236}">
                <a16:creationId xmlns:a16="http://schemas.microsoft.com/office/drawing/2014/main" id="{43C9F93B-2C0D-A359-35CE-C74C62CD6B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76247" y="91556"/>
            <a:ext cx="1415753" cy="1218944"/>
          </a:xfrm>
          <a:prstGeom prst="rect">
            <a:avLst/>
          </a:prstGeom>
        </p:spPr>
      </p:pic>
      <p:graphicFrame>
        <p:nvGraphicFramePr>
          <p:cNvPr id="6" name="Table 5">
            <a:extLst>
              <a:ext uri="{FF2B5EF4-FFF2-40B4-BE49-F238E27FC236}">
                <a16:creationId xmlns:a16="http://schemas.microsoft.com/office/drawing/2014/main" id="{71799111-CA31-65C0-22F0-EA4B74B10B14}"/>
              </a:ext>
            </a:extLst>
          </p:cNvPr>
          <p:cNvGraphicFramePr>
            <a:graphicFrameLocks noGrp="1"/>
          </p:cNvGraphicFramePr>
          <p:nvPr>
            <p:extLst>
              <p:ext uri="{D42A27DB-BD31-4B8C-83A1-F6EECF244321}">
                <p14:modId xmlns:p14="http://schemas.microsoft.com/office/powerpoint/2010/main" val="1397261134"/>
              </p:ext>
            </p:extLst>
          </p:nvPr>
        </p:nvGraphicFramePr>
        <p:xfrm>
          <a:off x="1940559" y="2204720"/>
          <a:ext cx="8835688" cy="3484880"/>
        </p:xfrm>
        <a:graphic>
          <a:graphicData uri="http://schemas.openxmlformats.org/drawingml/2006/table">
            <a:tbl>
              <a:tblPr firstRow="1" bandRow="1">
                <a:tableStyleId>{69C7853C-536D-4A76-A0AE-DD22124D55A5}</a:tableStyleId>
              </a:tblPr>
              <a:tblGrid>
                <a:gridCol w="4417844">
                  <a:extLst>
                    <a:ext uri="{9D8B030D-6E8A-4147-A177-3AD203B41FA5}">
                      <a16:colId xmlns:a16="http://schemas.microsoft.com/office/drawing/2014/main" val="1454517949"/>
                    </a:ext>
                  </a:extLst>
                </a:gridCol>
                <a:gridCol w="4417844">
                  <a:extLst>
                    <a:ext uri="{9D8B030D-6E8A-4147-A177-3AD203B41FA5}">
                      <a16:colId xmlns:a16="http://schemas.microsoft.com/office/drawing/2014/main" val="2308915139"/>
                    </a:ext>
                  </a:extLst>
                </a:gridCol>
              </a:tblGrid>
              <a:tr h="420914">
                <a:tc>
                  <a:txBody>
                    <a:bodyPr/>
                    <a:lstStyle/>
                    <a:p>
                      <a:pPr>
                        <a:buNone/>
                      </a:pPr>
                      <a:r>
                        <a:rPr lang="en-IN" sz="2000" b="1" dirty="0"/>
                        <a:t>Module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1"/>
                        <a:t>Description</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55120327"/>
                  </a:ext>
                </a:extLst>
              </a:tr>
              <a:tr h="1052286">
                <a:tc>
                  <a:txBody>
                    <a:bodyPr/>
                    <a:lstStyle/>
                    <a:p>
                      <a:pPr>
                        <a:buNone/>
                      </a:pPr>
                      <a:r>
                        <a:rPr lang="en-IN" sz="2000" b="1"/>
                        <a:t>Reservation Module</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Manages room search, reservation, modification, cancellation, and booking records.</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46186717"/>
                  </a:ext>
                </a:extLst>
              </a:tr>
              <a:tr h="736600">
                <a:tc>
                  <a:txBody>
                    <a:bodyPr/>
                    <a:lstStyle/>
                    <a:p>
                      <a:pPr>
                        <a:buNone/>
                      </a:pPr>
                      <a:r>
                        <a:rPr lang="en-IN" sz="2000" b="1" dirty="0"/>
                        <a:t>Pricing Engine Module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Calculates dynamic room prices based on occupancy, season, weekends, and demand.</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90376737"/>
                  </a:ext>
                </a:extLst>
              </a:tr>
              <a:tr h="736600">
                <a:tc>
                  <a:txBody>
                    <a:bodyPr/>
                    <a:lstStyle/>
                    <a:p>
                      <a:pPr>
                        <a:buNone/>
                      </a:pPr>
                      <a:r>
                        <a:rPr lang="en-IN" sz="2000" b="1"/>
                        <a:t>Occupancy Dashboard Module</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t>Displays room availability, occupancy status, and analytical reports for hotel operations.</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557268288"/>
                  </a:ext>
                </a:extLst>
              </a:tr>
            </a:tbl>
          </a:graphicData>
        </a:graphic>
      </p:graphicFrame>
    </p:spTree>
    <p:extLst>
      <p:ext uri="{BB962C8B-B14F-4D97-AF65-F5344CB8AC3E}">
        <p14:creationId xmlns:p14="http://schemas.microsoft.com/office/powerpoint/2010/main" val="2229606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726E3-42EC-D65C-74EC-3538309668A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6081E80-595B-7786-A0FD-783277283B18}"/>
              </a:ext>
            </a:extLst>
          </p:cNvPr>
          <p:cNvSpPr>
            <a:spLocks noGrp="1"/>
          </p:cNvSpPr>
          <p:nvPr>
            <p:ph type="title"/>
          </p:nvPr>
        </p:nvSpPr>
        <p:spPr>
          <a:xfrm>
            <a:off x="1219200" y="278625"/>
            <a:ext cx="9523180" cy="1031875"/>
          </a:xfrm>
        </p:spPr>
        <p:txBody>
          <a:bodyPr>
            <a:normAutofit/>
          </a:bodyPr>
          <a:lstStyle/>
          <a:p>
            <a:pPr algn="ctr"/>
            <a:r>
              <a:rPr lang="en-IN" sz="3600" b="1" dirty="0">
                <a:latin typeface="Times New Roman" panose="02020603050405020304" pitchFamily="18" charset="0"/>
                <a:cs typeface="Times New Roman" panose="02020603050405020304" pitchFamily="18" charset="0"/>
              </a:rPr>
              <a:t>PLANNING</a:t>
            </a:r>
          </a:p>
        </p:txBody>
      </p:sp>
      <p:sp>
        <p:nvSpPr>
          <p:cNvPr id="8" name="Content Placeholder 7">
            <a:extLst>
              <a:ext uri="{FF2B5EF4-FFF2-40B4-BE49-F238E27FC236}">
                <a16:creationId xmlns:a16="http://schemas.microsoft.com/office/drawing/2014/main" id="{6EC82AB7-B40E-C66E-68EE-79E0D89640EF}"/>
              </a:ext>
            </a:extLst>
          </p:cNvPr>
          <p:cNvSpPr>
            <a:spLocks noGrp="1"/>
          </p:cNvSpPr>
          <p:nvPr>
            <p:ph sz="half" idx="1"/>
          </p:nvPr>
        </p:nvSpPr>
        <p:spPr>
          <a:xfrm>
            <a:off x="823807" y="1567124"/>
            <a:ext cx="10443633" cy="3446211"/>
          </a:xfrm>
        </p:spPr>
        <p:txBody>
          <a:bodyPr>
            <a:noAutofit/>
          </a:bodyPr>
          <a:lstStyle/>
          <a:p>
            <a:pPr marL="0" indent="0">
              <a:buNone/>
            </a:pPr>
            <a:endParaRPr lang="en-IN" sz="1800" b="1" dirty="0">
              <a:latin typeface="Times New Roman" panose="02020603050405020304" pitchFamily="18" charset="0"/>
              <a:cs typeface="Times New Roman" panose="02020603050405020304" pitchFamily="18" charset="0"/>
            </a:endParaRPr>
          </a:p>
          <a:p>
            <a:r>
              <a:rPr lang="en-IN" sz="1800" b="1" dirty="0">
                <a:latin typeface="Times New Roman" panose="02020603050405020304" pitchFamily="18" charset="0"/>
                <a:cs typeface="Times New Roman" panose="02020603050405020304" pitchFamily="18" charset="0"/>
              </a:rPr>
              <a:t>Work Breakdown Structure</a:t>
            </a:r>
          </a:p>
        </p:txBody>
      </p:sp>
      <p:pic>
        <p:nvPicPr>
          <p:cNvPr id="11" name="Picture 10">
            <a:extLst>
              <a:ext uri="{FF2B5EF4-FFF2-40B4-BE49-F238E27FC236}">
                <a16:creationId xmlns:a16="http://schemas.microsoft.com/office/drawing/2014/main" id="{E0CEA6F9-43F9-48B3-60BF-A7D53D1B3C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3" name="Picture 12">
            <a:extLst>
              <a:ext uri="{FF2B5EF4-FFF2-40B4-BE49-F238E27FC236}">
                <a16:creationId xmlns:a16="http://schemas.microsoft.com/office/drawing/2014/main" id="{B1926340-37EF-ADA3-8EC8-230DACD24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
        <p:nvSpPr>
          <p:cNvPr id="2" name="TextBox 1">
            <a:extLst>
              <a:ext uri="{FF2B5EF4-FFF2-40B4-BE49-F238E27FC236}">
                <a16:creationId xmlns:a16="http://schemas.microsoft.com/office/drawing/2014/main" id="{45387BD3-4304-AA7E-D56A-F44DA3DD3EF3}"/>
              </a:ext>
            </a:extLst>
          </p:cNvPr>
          <p:cNvSpPr txBox="1"/>
          <p:nvPr/>
        </p:nvSpPr>
        <p:spPr>
          <a:xfrm>
            <a:off x="986368" y="2298368"/>
            <a:ext cx="3234268" cy="830997"/>
          </a:xfrm>
          <a:prstGeom prst="rect">
            <a:avLst/>
          </a:prstGeom>
          <a:solidFill>
            <a:schemeClr val="tx2">
              <a:lumMod val="20000"/>
              <a:lumOff val="80000"/>
            </a:schemeClr>
          </a:solidFill>
          <a:ln>
            <a:solidFill>
              <a:schemeClr val="accent1">
                <a:lumMod val="50000"/>
              </a:schemeClr>
            </a:solidFill>
          </a:ln>
        </p:spPr>
        <p:txBody>
          <a:bodyPr wrap="square" rtlCol="0">
            <a:spAutoFit/>
          </a:bodyPr>
          <a:lstStyle/>
          <a:p>
            <a:r>
              <a:rPr lang="en-IN" sz="1600" dirty="0">
                <a:latin typeface="Times New Roman" panose="02020603050405020304" pitchFamily="18" charset="0"/>
                <a:cs typeface="Times New Roman" panose="02020603050405020304" pitchFamily="18" charset="0"/>
              </a:rPr>
              <a:t>        1.REQUIREMENT ANALYSIS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Problem identification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Requirement gathering</a:t>
            </a:r>
          </a:p>
        </p:txBody>
      </p:sp>
      <p:sp>
        <p:nvSpPr>
          <p:cNvPr id="12" name="TextBox 11">
            <a:extLst>
              <a:ext uri="{FF2B5EF4-FFF2-40B4-BE49-F238E27FC236}">
                <a16:creationId xmlns:a16="http://schemas.microsoft.com/office/drawing/2014/main" id="{1F57DAA0-8B37-0587-968C-23935E4EFD86}"/>
              </a:ext>
            </a:extLst>
          </p:cNvPr>
          <p:cNvSpPr txBox="1"/>
          <p:nvPr/>
        </p:nvSpPr>
        <p:spPr>
          <a:xfrm>
            <a:off x="4651299" y="2252648"/>
            <a:ext cx="2597234" cy="830997"/>
          </a:xfrm>
          <a:prstGeom prst="rect">
            <a:avLst/>
          </a:prstGeom>
          <a:solidFill>
            <a:schemeClr val="tx2">
              <a:lumMod val="20000"/>
              <a:lumOff val="80000"/>
            </a:schemeClr>
          </a:solidFill>
          <a:ln>
            <a:solidFill>
              <a:schemeClr val="accent4">
                <a:lumMod val="75000"/>
              </a:schemeClr>
            </a:solidFill>
          </a:ln>
        </p:spPr>
        <p:txBody>
          <a:bodyPr wrap="square" rtlCol="0">
            <a:spAutoFit/>
          </a:bodyPr>
          <a:lstStyle/>
          <a:p>
            <a:r>
              <a:rPr lang="en-IN" sz="1600" dirty="0">
                <a:latin typeface="Times New Roman" panose="02020603050405020304" pitchFamily="18" charset="0"/>
                <a:cs typeface="Times New Roman" panose="02020603050405020304" pitchFamily="18" charset="0"/>
              </a:rPr>
              <a:t>         2.SYSTEM DESIGN </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System architecture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User Interface Design</a:t>
            </a:r>
          </a:p>
        </p:txBody>
      </p:sp>
      <p:sp>
        <p:nvSpPr>
          <p:cNvPr id="19" name="TextBox 18">
            <a:extLst>
              <a:ext uri="{FF2B5EF4-FFF2-40B4-BE49-F238E27FC236}">
                <a16:creationId xmlns:a16="http://schemas.microsoft.com/office/drawing/2014/main" id="{E8EFFE2A-818C-DCCF-34C2-CE62DFD496EB}"/>
              </a:ext>
            </a:extLst>
          </p:cNvPr>
          <p:cNvSpPr txBox="1"/>
          <p:nvPr/>
        </p:nvSpPr>
        <p:spPr>
          <a:xfrm>
            <a:off x="8120730" y="2246556"/>
            <a:ext cx="3023976" cy="1107996"/>
          </a:xfrm>
          <a:prstGeom prst="rect">
            <a:avLst/>
          </a:prstGeom>
          <a:solidFill>
            <a:schemeClr val="tx2">
              <a:lumMod val="20000"/>
              <a:lumOff val="80000"/>
            </a:schemeClr>
          </a:solidFill>
          <a:ln>
            <a:solidFill>
              <a:srgbClr val="FF0000"/>
            </a:solidFill>
          </a:ln>
        </p:spPr>
        <p:txBody>
          <a:bodyPr wrap="square" rtlCol="0">
            <a:spAutoFit/>
          </a:bodyPr>
          <a:lstStyle/>
          <a:p>
            <a:r>
              <a:rPr lang="en-IN" sz="1600" dirty="0">
                <a:latin typeface="Times New Roman" panose="02020603050405020304" pitchFamily="18" charset="0"/>
                <a:cs typeface="Times New Roman" panose="02020603050405020304" pitchFamily="18" charset="0"/>
              </a:rPr>
              <a:t>       3. </a:t>
            </a:r>
            <a:r>
              <a:rPr lang="en-IN" dirty="0">
                <a:latin typeface="Times New Roman" panose="02020603050405020304" pitchFamily="18" charset="0"/>
                <a:cs typeface="Times New Roman" panose="02020603050405020304" pitchFamily="18" charset="0"/>
              </a:rPr>
              <a:t>System Development</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Occupancy tracing module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Reservation Module</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Analytics Module</a:t>
            </a:r>
          </a:p>
        </p:txBody>
      </p:sp>
      <p:sp>
        <p:nvSpPr>
          <p:cNvPr id="21" name="TextBox 20">
            <a:extLst>
              <a:ext uri="{FF2B5EF4-FFF2-40B4-BE49-F238E27FC236}">
                <a16:creationId xmlns:a16="http://schemas.microsoft.com/office/drawing/2014/main" id="{9CE4FE0B-1DB9-3DA2-1971-03F3440F04E6}"/>
              </a:ext>
            </a:extLst>
          </p:cNvPr>
          <p:cNvSpPr txBox="1"/>
          <p:nvPr/>
        </p:nvSpPr>
        <p:spPr>
          <a:xfrm>
            <a:off x="7982196" y="3749092"/>
            <a:ext cx="3162510" cy="1077218"/>
          </a:xfrm>
          <a:prstGeom prst="rect">
            <a:avLst/>
          </a:prstGeom>
          <a:solidFill>
            <a:schemeClr val="tx2">
              <a:lumMod val="20000"/>
              <a:lumOff val="80000"/>
            </a:schemeClr>
          </a:solidFill>
          <a:ln>
            <a:solidFill>
              <a:schemeClr val="accent1"/>
            </a:solidFill>
          </a:ln>
        </p:spPr>
        <p:txBody>
          <a:bodyPr wrap="square" rtlCol="0">
            <a:spAutoFit/>
          </a:bodyPr>
          <a:lstStyle/>
          <a:p>
            <a:r>
              <a:rPr lang="en-IN" sz="1600" dirty="0">
                <a:latin typeface="Times New Roman" panose="02020603050405020304" pitchFamily="18" charset="0"/>
                <a:cs typeface="Times New Roman" panose="02020603050405020304" pitchFamily="18" charset="0"/>
              </a:rPr>
              <a:t>        4.SYSTEM TESTING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Unit testing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Integration testing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System testing</a:t>
            </a:r>
          </a:p>
        </p:txBody>
      </p:sp>
      <p:sp>
        <p:nvSpPr>
          <p:cNvPr id="23" name="TextBox 22">
            <a:extLst>
              <a:ext uri="{FF2B5EF4-FFF2-40B4-BE49-F238E27FC236}">
                <a16:creationId xmlns:a16="http://schemas.microsoft.com/office/drawing/2014/main" id="{A68BFC8F-6CDB-E9CA-9826-B9A591B4632E}"/>
              </a:ext>
            </a:extLst>
          </p:cNvPr>
          <p:cNvSpPr txBox="1"/>
          <p:nvPr/>
        </p:nvSpPr>
        <p:spPr>
          <a:xfrm>
            <a:off x="4086022" y="3917925"/>
            <a:ext cx="3162511" cy="830997"/>
          </a:xfrm>
          <a:prstGeom prst="rect">
            <a:avLst/>
          </a:prstGeom>
          <a:solidFill>
            <a:schemeClr val="tx2">
              <a:lumMod val="20000"/>
              <a:lumOff val="80000"/>
            </a:schemeClr>
          </a:solidFill>
          <a:ln>
            <a:solidFill>
              <a:schemeClr val="accent2"/>
            </a:solidFill>
          </a:ln>
        </p:spPr>
        <p:txBody>
          <a:bodyPr wrap="square" rtlCol="0">
            <a:spAutoFit/>
          </a:bodyPr>
          <a:lstStyle/>
          <a:p>
            <a:r>
              <a:rPr lang="en-IN" sz="1600" dirty="0">
                <a:latin typeface="Times New Roman" panose="02020603050405020304" pitchFamily="18" charset="0"/>
                <a:cs typeface="Times New Roman" panose="02020603050405020304" pitchFamily="18" charset="0"/>
              </a:rPr>
              <a:t>       5.DOCUMENTATION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Documentation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Final review</a:t>
            </a:r>
          </a:p>
        </p:txBody>
      </p:sp>
      <p:pic>
        <p:nvPicPr>
          <p:cNvPr id="25" name="Picture 24">
            <a:extLst>
              <a:ext uri="{FF2B5EF4-FFF2-40B4-BE49-F238E27FC236}">
                <a16:creationId xmlns:a16="http://schemas.microsoft.com/office/drawing/2014/main" id="{A2833FEB-70E9-D763-3206-BD5499B186FD}"/>
              </a:ext>
            </a:extLst>
          </p:cNvPr>
          <p:cNvPicPr>
            <a:picLocks noChangeAspect="1"/>
          </p:cNvPicPr>
          <p:nvPr/>
        </p:nvPicPr>
        <p:blipFill>
          <a:blip r:embed="rId4"/>
          <a:stretch>
            <a:fillRect/>
          </a:stretch>
        </p:blipFill>
        <p:spPr>
          <a:xfrm>
            <a:off x="1047294" y="2379132"/>
            <a:ext cx="369737" cy="177801"/>
          </a:xfrm>
          <a:prstGeom prst="rect">
            <a:avLst/>
          </a:prstGeom>
        </p:spPr>
      </p:pic>
      <p:pic>
        <p:nvPicPr>
          <p:cNvPr id="29" name="Picture 28">
            <a:extLst>
              <a:ext uri="{FF2B5EF4-FFF2-40B4-BE49-F238E27FC236}">
                <a16:creationId xmlns:a16="http://schemas.microsoft.com/office/drawing/2014/main" id="{04AC4B26-176C-2B83-B6ED-F7F07D34ADAA}"/>
              </a:ext>
            </a:extLst>
          </p:cNvPr>
          <p:cNvPicPr>
            <a:picLocks noChangeAspect="1"/>
          </p:cNvPicPr>
          <p:nvPr/>
        </p:nvPicPr>
        <p:blipFill>
          <a:blip r:embed="rId5"/>
          <a:stretch>
            <a:fillRect/>
          </a:stretch>
        </p:blipFill>
        <p:spPr>
          <a:xfrm>
            <a:off x="4665649" y="2252648"/>
            <a:ext cx="422841" cy="321733"/>
          </a:xfrm>
          <a:prstGeom prst="rect">
            <a:avLst/>
          </a:prstGeom>
        </p:spPr>
      </p:pic>
      <p:pic>
        <p:nvPicPr>
          <p:cNvPr id="31" name="Picture 30">
            <a:extLst>
              <a:ext uri="{FF2B5EF4-FFF2-40B4-BE49-F238E27FC236}">
                <a16:creationId xmlns:a16="http://schemas.microsoft.com/office/drawing/2014/main" id="{CD2B9E4C-EACD-2307-D120-9BFBC0D929CF}"/>
              </a:ext>
            </a:extLst>
          </p:cNvPr>
          <p:cNvPicPr>
            <a:picLocks noChangeAspect="1"/>
          </p:cNvPicPr>
          <p:nvPr/>
        </p:nvPicPr>
        <p:blipFill>
          <a:blip r:embed="rId6"/>
          <a:stretch>
            <a:fillRect/>
          </a:stretch>
        </p:blipFill>
        <p:spPr>
          <a:xfrm>
            <a:off x="8145292" y="2278232"/>
            <a:ext cx="366524" cy="237068"/>
          </a:xfrm>
          <a:prstGeom prst="rect">
            <a:avLst/>
          </a:prstGeom>
        </p:spPr>
      </p:pic>
      <p:pic>
        <p:nvPicPr>
          <p:cNvPr id="33" name="Picture 32">
            <a:extLst>
              <a:ext uri="{FF2B5EF4-FFF2-40B4-BE49-F238E27FC236}">
                <a16:creationId xmlns:a16="http://schemas.microsoft.com/office/drawing/2014/main" id="{5C870A00-41F8-5FD4-7363-956CED1BAA7C}"/>
              </a:ext>
            </a:extLst>
          </p:cNvPr>
          <p:cNvPicPr>
            <a:picLocks noChangeAspect="1"/>
          </p:cNvPicPr>
          <p:nvPr/>
        </p:nvPicPr>
        <p:blipFill>
          <a:blip r:embed="rId7"/>
          <a:stretch>
            <a:fillRect/>
          </a:stretch>
        </p:blipFill>
        <p:spPr>
          <a:xfrm>
            <a:off x="8019119" y="3788101"/>
            <a:ext cx="379448" cy="302712"/>
          </a:xfrm>
          <a:prstGeom prst="rect">
            <a:avLst/>
          </a:prstGeom>
        </p:spPr>
      </p:pic>
      <p:pic>
        <p:nvPicPr>
          <p:cNvPr id="37" name="Picture 36">
            <a:extLst>
              <a:ext uri="{FF2B5EF4-FFF2-40B4-BE49-F238E27FC236}">
                <a16:creationId xmlns:a16="http://schemas.microsoft.com/office/drawing/2014/main" id="{99B246E4-2F02-5BA5-3172-A4A7D5942E04}"/>
              </a:ext>
            </a:extLst>
          </p:cNvPr>
          <p:cNvPicPr>
            <a:picLocks noChangeAspect="1"/>
          </p:cNvPicPr>
          <p:nvPr/>
        </p:nvPicPr>
        <p:blipFill>
          <a:blip r:embed="rId8"/>
          <a:stretch>
            <a:fillRect/>
          </a:stretch>
        </p:blipFill>
        <p:spPr>
          <a:xfrm>
            <a:off x="4120563" y="3939457"/>
            <a:ext cx="381371" cy="303584"/>
          </a:xfrm>
          <a:prstGeom prst="rect">
            <a:avLst/>
          </a:prstGeom>
        </p:spPr>
      </p:pic>
      <p:sp>
        <p:nvSpPr>
          <p:cNvPr id="41" name="Arrow: Right 40">
            <a:extLst>
              <a:ext uri="{FF2B5EF4-FFF2-40B4-BE49-F238E27FC236}">
                <a16:creationId xmlns:a16="http://schemas.microsoft.com/office/drawing/2014/main" id="{F637923C-27FE-16B1-F3E7-0C773E38F065}"/>
              </a:ext>
            </a:extLst>
          </p:cNvPr>
          <p:cNvSpPr/>
          <p:nvPr/>
        </p:nvSpPr>
        <p:spPr>
          <a:xfrm>
            <a:off x="4220636" y="2668147"/>
            <a:ext cx="430662" cy="8521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 name="Arrow: Right 3">
            <a:extLst>
              <a:ext uri="{FF2B5EF4-FFF2-40B4-BE49-F238E27FC236}">
                <a16:creationId xmlns:a16="http://schemas.microsoft.com/office/drawing/2014/main" id="{A590526E-80A0-7F29-23FF-F0669EF30F76}"/>
              </a:ext>
            </a:extLst>
          </p:cNvPr>
          <p:cNvSpPr/>
          <p:nvPr/>
        </p:nvSpPr>
        <p:spPr>
          <a:xfrm>
            <a:off x="7253969" y="2652085"/>
            <a:ext cx="86676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5" name="Arrow: Left 4">
            <a:extLst>
              <a:ext uri="{FF2B5EF4-FFF2-40B4-BE49-F238E27FC236}">
                <a16:creationId xmlns:a16="http://schemas.microsoft.com/office/drawing/2014/main" id="{32AB3667-7CD4-A8A8-8AAE-1A85473C4CFA}"/>
              </a:ext>
            </a:extLst>
          </p:cNvPr>
          <p:cNvSpPr/>
          <p:nvPr/>
        </p:nvSpPr>
        <p:spPr>
          <a:xfrm>
            <a:off x="7248533" y="4265493"/>
            <a:ext cx="733663" cy="67930"/>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9" name="Arrow: Down 8">
            <a:extLst>
              <a:ext uri="{FF2B5EF4-FFF2-40B4-BE49-F238E27FC236}">
                <a16:creationId xmlns:a16="http://schemas.microsoft.com/office/drawing/2014/main" id="{5BF9CA6C-1BC6-5919-A445-1A48887EDAA8}"/>
              </a:ext>
            </a:extLst>
          </p:cNvPr>
          <p:cNvSpPr/>
          <p:nvPr/>
        </p:nvSpPr>
        <p:spPr>
          <a:xfrm>
            <a:off x="9387840" y="3354553"/>
            <a:ext cx="86359" cy="3945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506BAF3-DC22-E41B-4F39-F3850C737F00}"/>
              </a:ext>
            </a:extLst>
          </p:cNvPr>
          <p:cNvSpPr txBox="1"/>
          <p:nvPr/>
        </p:nvSpPr>
        <p:spPr>
          <a:xfrm>
            <a:off x="823807" y="5082934"/>
            <a:ext cx="10443633" cy="1569660"/>
          </a:xfrm>
          <a:prstGeom prst="rect">
            <a:avLst/>
          </a:prstGeom>
          <a:noFill/>
        </p:spPr>
        <p:txBody>
          <a:bodyPr wrap="square" rtlCol="0">
            <a:spAutoFit/>
          </a:bodyPr>
          <a:lstStyle/>
          <a:p>
            <a:pPr algn="just"/>
            <a:r>
              <a:rPr lang="en-IN" sz="1600" b="1" dirty="0">
                <a:latin typeface="Times New Roman" panose="02020603050405020304" pitchFamily="18" charset="0"/>
                <a:cs typeface="Times New Roman" panose="02020603050405020304" pitchFamily="18" charset="0"/>
              </a:rPr>
              <a:t>Milestones</a:t>
            </a:r>
          </a:p>
          <a:p>
            <a:pPr algn="just"/>
            <a:r>
              <a:rPr lang="en-IN" sz="1600" dirty="0">
                <a:latin typeface="Times New Roman" panose="02020603050405020304" pitchFamily="18" charset="0"/>
                <a:cs typeface="Times New Roman" panose="02020603050405020304" pitchFamily="18" charset="0"/>
              </a:rPr>
              <a:t>The project will be executed through a series of planned milestones, beginning with requirement analysis and system design, followed by the development of the Reservation Module, Pricing Engine Module, and Occupancy Dashboard Module. </a:t>
            </a:r>
          </a:p>
          <a:p>
            <a:pPr algn="just"/>
            <a:r>
              <a:rPr lang="en-IN" sz="1600" dirty="0">
                <a:latin typeface="Times New Roman" panose="02020603050405020304" pitchFamily="18" charset="0"/>
                <a:cs typeface="Times New Roman" panose="02020603050405020304" pitchFamily="18" charset="0"/>
              </a:rPr>
              <a:t>After successful implementation, the system will undergo testing, integration , documentation, and final project submission to ensure a complete and reliable solution.</a:t>
            </a:r>
          </a:p>
          <a:p>
            <a:pPr algn="just"/>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9961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50C359-0DF8-1517-0309-D60217EE53FE}"/>
              </a:ext>
            </a:extLst>
          </p:cNvPr>
          <p:cNvSpPr>
            <a:spLocks noGrp="1"/>
          </p:cNvSpPr>
          <p:nvPr>
            <p:ph type="title"/>
          </p:nvPr>
        </p:nvSpPr>
        <p:spPr>
          <a:xfrm>
            <a:off x="1165140" y="251398"/>
            <a:ext cx="9533340" cy="762637"/>
          </a:xfrm>
        </p:spPr>
        <p:txBody>
          <a:bodyPr>
            <a:normAutofit/>
          </a:bodyPr>
          <a:lstStyle/>
          <a:p>
            <a:pPr algn="ctr"/>
            <a:r>
              <a:rPr lang="en-IN" sz="3600" b="1" dirty="0">
                <a:latin typeface="Times New Roman" panose="02020603050405020304" pitchFamily="18" charset="0"/>
                <a:cs typeface="Times New Roman" panose="02020603050405020304" pitchFamily="18" charset="0"/>
              </a:rPr>
              <a:t>Planning: Risk Analysis</a:t>
            </a:r>
          </a:p>
        </p:txBody>
      </p:sp>
      <p:sp>
        <p:nvSpPr>
          <p:cNvPr id="12" name="TextBox 11">
            <a:extLst>
              <a:ext uri="{FF2B5EF4-FFF2-40B4-BE49-F238E27FC236}">
                <a16:creationId xmlns:a16="http://schemas.microsoft.com/office/drawing/2014/main" id="{B99CBDFC-2E51-546A-9C0D-994CF9AD310D}"/>
              </a:ext>
            </a:extLst>
          </p:cNvPr>
          <p:cNvSpPr txBox="1"/>
          <p:nvPr/>
        </p:nvSpPr>
        <p:spPr>
          <a:xfrm>
            <a:off x="3048000" y="3274814"/>
            <a:ext cx="6096000" cy="369332"/>
          </a:xfrm>
          <a:prstGeom prst="rect">
            <a:avLst/>
          </a:prstGeom>
          <a:noFill/>
        </p:spPr>
        <p:txBody>
          <a:bodyPr wrap="square">
            <a:spAutoFit/>
          </a:bodyPr>
          <a:lstStyle/>
          <a:p>
            <a:pPr>
              <a:buNone/>
            </a:pPr>
            <a:endParaRPr lang="en-IN" b="1"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6F93FE46-81B7-BC84-88E0-05A586CB0ED8}"/>
              </a:ext>
            </a:extLst>
          </p:cNvPr>
          <p:cNvGraphicFramePr>
            <a:graphicFrameLocks noGrp="1"/>
          </p:cNvGraphicFramePr>
          <p:nvPr>
            <p:extLst>
              <p:ext uri="{D42A27DB-BD31-4B8C-83A1-F6EECF244321}">
                <p14:modId xmlns:p14="http://schemas.microsoft.com/office/powerpoint/2010/main" val="3968629258"/>
              </p:ext>
            </p:extLst>
          </p:nvPr>
        </p:nvGraphicFramePr>
        <p:xfrm>
          <a:off x="1564640" y="2021840"/>
          <a:ext cx="9133840" cy="3738878"/>
        </p:xfrm>
        <a:graphic>
          <a:graphicData uri="http://schemas.openxmlformats.org/drawingml/2006/table">
            <a:tbl>
              <a:tblPr firstRow="1" bandRow="1">
                <a:tableStyleId>{69C7853C-536D-4A76-A0AE-DD22124D55A5}</a:tableStyleId>
              </a:tblPr>
              <a:tblGrid>
                <a:gridCol w="4566920">
                  <a:extLst>
                    <a:ext uri="{9D8B030D-6E8A-4147-A177-3AD203B41FA5}">
                      <a16:colId xmlns:a16="http://schemas.microsoft.com/office/drawing/2014/main" val="3500482743"/>
                    </a:ext>
                  </a:extLst>
                </a:gridCol>
                <a:gridCol w="4566920">
                  <a:extLst>
                    <a:ext uri="{9D8B030D-6E8A-4147-A177-3AD203B41FA5}">
                      <a16:colId xmlns:a16="http://schemas.microsoft.com/office/drawing/2014/main" val="1793492499"/>
                    </a:ext>
                  </a:extLst>
                </a:gridCol>
              </a:tblGrid>
              <a:tr h="552334">
                <a:tc>
                  <a:txBody>
                    <a:bodyPr/>
                    <a:lstStyle/>
                    <a:p>
                      <a:pPr>
                        <a:buNone/>
                      </a:pPr>
                      <a:r>
                        <a:rPr lang="en-IN" sz="2000" b="1" dirty="0">
                          <a:latin typeface="Times New Roman" panose="02020603050405020304" pitchFamily="18" charset="0"/>
                          <a:cs typeface="Times New Roman" panose="02020603050405020304" pitchFamily="18" charset="0"/>
                        </a:rPr>
                        <a:t>Risk Analysis</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b="1">
                          <a:latin typeface="Times New Roman" panose="02020603050405020304" pitchFamily="18" charset="0"/>
                          <a:cs typeface="Times New Roman" panose="02020603050405020304" pitchFamily="18" charset="0"/>
                        </a:rPr>
                        <a:t>Mitigation Strategy</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87438103"/>
                  </a:ext>
                </a:extLst>
              </a:tr>
              <a:tr h="552334">
                <a:tc>
                  <a:txBody>
                    <a:bodyPr/>
                    <a:lstStyle/>
                    <a:p>
                      <a:pPr>
                        <a:buNone/>
                      </a:pPr>
                      <a:r>
                        <a:rPr lang="en-IN" sz="2000" dirty="0">
                          <a:latin typeface="Times New Roman" panose="02020603050405020304" pitchFamily="18" charset="0"/>
                          <a:cs typeface="Times New Roman" panose="02020603050405020304" pitchFamily="18" charset="0"/>
                        </a:rPr>
                        <a:t>Requirement changes</a:t>
                      </a:r>
                    </a:p>
                  </a:txBody>
                  <a:tcPr anchor="ctr"/>
                </a:tc>
                <a:tc>
                  <a:txBody>
                    <a:bodyPr/>
                    <a:lstStyle/>
                    <a:p>
                      <a:pPr>
                        <a:buNone/>
                      </a:pPr>
                      <a:r>
                        <a:rPr lang="en-IN" sz="2000">
                          <a:latin typeface="Times New Roman" panose="02020603050405020304" pitchFamily="18" charset="0"/>
                          <a:cs typeface="Times New Roman" panose="02020603050405020304" pitchFamily="18" charset="0"/>
                        </a:rPr>
                        <a:t>Regular discussion with the project guide</a:t>
                      </a:r>
                    </a:p>
                  </a:txBody>
                  <a:tcPr anchor="ctr"/>
                </a:tc>
                <a:extLst>
                  <a:ext uri="{0D108BD9-81ED-4DB2-BD59-A6C34878D82A}">
                    <a16:rowId xmlns:a16="http://schemas.microsoft.com/office/drawing/2014/main" val="2195214175"/>
                  </a:ext>
                </a:extLst>
              </a:tr>
              <a:tr h="552334">
                <a:tc>
                  <a:txBody>
                    <a:bodyPr/>
                    <a:lstStyle/>
                    <a:p>
                      <a:pPr>
                        <a:buNone/>
                      </a:pPr>
                      <a:r>
                        <a:rPr lang="en-IN" sz="2000" dirty="0">
                          <a:latin typeface="Times New Roman" panose="02020603050405020304" pitchFamily="18" charset="0"/>
                          <a:cs typeface="Times New Roman" panose="02020603050405020304" pitchFamily="18" charset="0"/>
                        </a:rPr>
                        <a:t>Development delays</a:t>
                      </a:r>
                    </a:p>
                  </a:txBody>
                  <a:tcPr anchor="ctr"/>
                </a:tc>
                <a:tc>
                  <a:txBody>
                    <a:bodyPr/>
                    <a:lstStyle/>
                    <a:p>
                      <a:pPr>
                        <a:buNone/>
                      </a:pPr>
                      <a:r>
                        <a:rPr lang="en-IN" sz="2000">
                          <a:latin typeface="Times New Roman" panose="02020603050405020304" pitchFamily="18" charset="0"/>
                          <a:cs typeface="Times New Roman" panose="02020603050405020304" pitchFamily="18" charset="0"/>
                        </a:rPr>
                        <a:t>Follow a planned project schedule</a:t>
                      </a:r>
                    </a:p>
                  </a:txBody>
                  <a:tcPr anchor="ctr"/>
                </a:tc>
                <a:extLst>
                  <a:ext uri="{0D108BD9-81ED-4DB2-BD59-A6C34878D82A}">
                    <a16:rowId xmlns:a16="http://schemas.microsoft.com/office/drawing/2014/main" val="162495123"/>
                  </a:ext>
                </a:extLst>
              </a:tr>
              <a:tr h="977208">
                <a:tc>
                  <a:txBody>
                    <a:bodyPr/>
                    <a:lstStyle/>
                    <a:p>
                      <a:pPr>
                        <a:buNone/>
                      </a:pPr>
                      <a:r>
                        <a:rPr lang="en-IN" sz="2000">
                          <a:latin typeface="Times New Roman" panose="02020603050405020304" pitchFamily="18" charset="0"/>
                          <a:cs typeface="Times New Roman" panose="02020603050405020304" pitchFamily="18" charset="0"/>
                        </a:rPr>
                        <a:t>Integration issues</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Perform module-wise integration and testing</a:t>
                      </a:r>
                    </a:p>
                  </a:txBody>
                  <a:tcPr anchor="ctr"/>
                </a:tc>
                <a:extLst>
                  <a:ext uri="{0D108BD9-81ED-4DB2-BD59-A6C34878D82A}">
                    <a16:rowId xmlns:a16="http://schemas.microsoft.com/office/drawing/2014/main" val="2582639541"/>
                  </a:ext>
                </a:extLst>
              </a:tr>
              <a:tr h="552334">
                <a:tc>
                  <a:txBody>
                    <a:bodyPr/>
                    <a:lstStyle/>
                    <a:p>
                      <a:pPr>
                        <a:buNone/>
                      </a:pPr>
                      <a:r>
                        <a:rPr lang="en-IN" sz="2000" dirty="0">
                          <a:latin typeface="Times New Roman" panose="02020603050405020304" pitchFamily="18" charset="0"/>
                          <a:cs typeface="Times New Roman" panose="02020603050405020304" pitchFamily="18" charset="0"/>
                        </a:rPr>
                        <a:t>Database failures</a:t>
                      </a:r>
                    </a:p>
                  </a:txBody>
                  <a:tcPr anchor="ctr"/>
                </a:tc>
                <a:tc>
                  <a:txBody>
                    <a:bodyPr/>
                    <a:lstStyle/>
                    <a:p>
                      <a:pPr>
                        <a:buNone/>
                      </a:pPr>
                      <a:r>
                        <a:rPr lang="en-IN" sz="2000">
                          <a:latin typeface="Times New Roman" panose="02020603050405020304" pitchFamily="18" charset="0"/>
                          <a:cs typeface="Times New Roman" panose="02020603050405020304" pitchFamily="18" charset="0"/>
                        </a:rPr>
                        <a:t>Regular backup and data validation</a:t>
                      </a:r>
                    </a:p>
                  </a:txBody>
                  <a:tcPr anchor="ctr"/>
                </a:tc>
                <a:extLst>
                  <a:ext uri="{0D108BD9-81ED-4DB2-BD59-A6C34878D82A}">
                    <a16:rowId xmlns:a16="http://schemas.microsoft.com/office/drawing/2014/main" val="3117621999"/>
                  </a:ext>
                </a:extLst>
              </a:tr>
              <a:tr h="552334">
                <a:tc>
                  <a:txBody>
                    <a:bodyPr/>
                    <a:lstStyle/>
                    <a:p>
                      <a:pPr>
                        <a:buNone/>
                      </a:pPr>
                      <a:r>
                        <a:rPr lang="en-IN" sz="2000" dirty="0">
                          <a:latin typeface="Times New Roman" panose="02020603050405020304" pitchFamily="18" charset="0"/>
                          <a:cs typeface="Times New Roman" panose="02020603050405020304" pitchFamily="18" charset="0"/>
                        </a:rPr>
                        <a:t>Technical challenges</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Early testing and continuous debugging</a:t>
                      </a:r>
                    </a:p>
                  </a:txBody>
                  <a:tcPr anchor="ctr"/>
                </a:tc>
                <a:extLst>
                  <a:ext uri="{0D108BD9-81ED-4DB2-BD59-A6C34878D82A}">
                    <a16:rowId xmlns:a16="http://schemas.microsoft.com/office/drawing/2014/main" val="675489825"/>
                  </a:ext>
                </a:extLst>
              </a:tr>
            </a:tbl>
          </a:graphicData>
        </a:graphic>
      </p:graphicFrame>
      <p:pic>
        <p:nvPicPr>
          <p:cNvPr id="19" name="Picture 18">
            <a:extLst>
              <a:ext uri="{FF2B5EF4-FFF2-40B4-BE49-F238E27FC236}">
                <a16:creationId xmlns:a16="http://schemas.microsoft.com/office/drawing/2014/main" id="{94671EFB-B316-B819-8818-551B2A2EA0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21" name="Picture 20">
            <a:extLst>
              <a:ext uri="{FF2B5EF4-FFF2-40B4-BE49-F238E27FC236}">
                <a16:creationId xmlns:a16="http://schemas.microsoft.com/office/drawing/2014/main" id="{4AB9A9A8-E679-E812-4391-0D83A2E62E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Tree>
    <p:extLst>
      <p:ext uri="{BB962C8B-B14F-4D97-AF65-F5344CB8AC3E}">
        <p14:creationId xmlns:p14="http://schemas.microsoft.com/office/powerpoint/2010/main" val="24337956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1E15DE-FCC2-10C1-4F96-A3DF74ADC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494C0-8E5F-59AA-6B5E-06CECEC19009}"/>
              </a:ext>
            </a:extLst>
          </p:cNvPr>
          <p:cNvSpPr>
            <a:spLocks noGrp="1"/>
          </p:cNvSpPr>
          <p:nvPr>
            <p:ph type="title"/>
          </p:nvPr>
        </p:nvSpPr>
        <p:spPr>
          <a:xfrm>
            <a:off x="1202266" y="365125"/>
            <a:ext cx="9381067" cy="752475"/>
          </a:xfrm>
        </p:spPr>
        <p:txBody>
          <a:bodyPr vert="horz" lIns="91440" tIns="45720" rIns="91440" bIns="45720" rtlCol="0" anchor="b">
            <a:noAutofit/>
          </a:bodyPr>
          <a:lstStyle/>
          <a:p>
            <a:pPr algn="ctr">
              <a:lnSpc>
                <a:spcPct val="150000"/>
              </a:lnSpc>
            </a:pPr>
            <a:r>
              <a:rPr lang="en-IN" sz="3600" b="1" dirty="0">
                <a:latin typeface="Times New Roman" panose="02020603050405020304" pitchFamily="18" charset="0"/>
                <a:cs typeface="Times New Roman" panose="02020603050405020304" pitchFamily="18" charset="0"/>
              </a:rPr>
              <a:t>Expected Outcomes</a:t>
            </a:r>
            <a:endParaRPr 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2291DC-D80D-C8BC-B362-525DCF517B5A}"/>
              </a:ext>
            </a:extLst>
          </p:cNvPr>
          <p:cNvSpPr>
            <a:spLocks noGrp="1"/>
          </p:cNvSpPr>
          <p:nvPr>
            <p:ph idx="1"/>
          </p:nvPr>
        </p:nvSpPr>
        <p:spPr>
          <a:xfrm>
            <a:off x="1202266" y="1784985"/>
            <a:ext cx="10292080" cy="4432936"/>
          </a:xfrm>
        </p:spPr>
        <p:txBody>
          <a:bodyPr>
            <a:noAutofit/>
          </a:bodyPr>
          <a:lstStyle/>
          <a:p>
            <a:pPr lvl="0">
              <a:lnSpc>
                <a:spcPct val="150000"/>
              </a:lnSpc>
            </a:pPr>
            <a:r>
              <a:rPr lang="en-IN" sz="1800" dirty="0">
                <a:latin typeface="Times New Roman" panose="02020603050405020304" pitchFamily="18" charset="0"/>
                <a:cs typeface="Times New Roman" panose="02020603050405020304" pitchFamily="18" charset="0"/>
              </a:rPr>
              <a:t>Develop an intelligent hotel reservation and dynamic pricing management system. </a:t>
            </a:r>
          </a:p>
          <a:p>
            <a:pPr lvl="0">
              <a:lnSpc>
                <a:spcPct val="150000"/>
              </a:lnSpc>
            </a:pPr>
            <a:r>
              <a:rPr lang="en-IN" sz="1800" dirty="0">
                <a:latin typeface="Times New Roman" panose="02020603050405020304" pitchFamily="18" charset="0"/>
                <a:cs typeface="Times New Roman" panose="02020603050405020304" pitchFamily="18" charset="0"/>
              </a:rPr>
              <a:t>Automate room reservation, booking, modification, and cancellation processes. </a:t>
            </a:r>
          </a:p>
          <a:p>
            <a:pPr lvl="0">
              <a:lnSpc>
                <a:spcPct val="150000"/>
              </a:lnSpc>
            </a:pPr>
            <a:r>
              <a:rPr lang="en-IN" sz="1800" dirty="0">
                <a:latin typeface="Times New Roman" panose="02020603050405020304" pitchFamily="18" charset="0"/>
                <a:cs typeface="Times New Roman" panose="02020603050405020304" pitchFamily="18" charset="0"/>
              </a:rPr>
              <a:t>Optimize room pricing based on demand, occupancy, and seasonal factors. </a:t>
            </a:r>
          </a:p>
          <a:p>
            <a:pPr lvl="0">
              <a:lnSpc>
                <a:spcPct val="150000"/>
              </a:lnSpc>
            </a:pPr>
            <a:r>
              <a:rPr lang="en-IN" sz="1800" dirty="0">
                <a:latin typeface="Times New Roman" panose="02020603050405020304" pitchFamily="18" charset="0"/>
                <a:cs typeface="Times New Roman" panose="02020603050405020304" pitchFamily="18" charset="0"/>
              </a:rPr>
              <a:t>Provide real-time occupancy monitoring and analytical dashboards. </a:t>
            </a:r>
          </a:p>
          <a:p>
            <a:pPr lvl="0">
              <a:lnSpc>
                <a:spcPct val="150000"/>
              </a:lnSpc>
            </a:pPr>
            <a:r>
              <a:rPr lang="en-IN" sz="1800" dirty="0">
                <a:latin typeface="Times New Roman" panose="02020603050405020304" pitchFamily="18" charset="0"/>
                <a:cs typeface="Times New Roman" panose="02020603050405020304" pitchFamily="18" charset="0"/>
              </a:rPr>
              <a:t>Improve hotel operational efficiency and maximize revenue. </a:t>
            </a:r>
          </a:p>
          <a:p>
            <a:pPr lvl="0">
              <a:lnSpc>
                <a:spcPct val="150000"/>
              </a:lnSpc>
            </a:pPr>
            <a:r>
              <a:rPr lang="en-IN" sz="1800" dirty="0">
                <a:latin typeface="Times New Roman" panose="02020603050405020304" pitchFamily="18" charset="0"/>
                <a:cs typeface="Times New Roman" panose="02020603050405020304" pitchFamily="18" charset="0"/>
              </a:rPr>
              <a:t>Deliver a Java-based application with a MySQL database, source code, and project documentation. </a:t>
            </a:r>
          </a:p>
          <a:p>
            <a:pPr lvl="0">
              <a:lnSpc>
                <a:spcPct val="150000"/>
              </a:lnSpc>
            </a:pPr>
            <a:r>
              <a:rPr lang="en-IN" sz="1800" dirty="0">
                <a:latin typeface="Times New Roman" panose="02020603050405020304" pitchFamily="18" charset="0"/>
                <a:cs typeface="Times New Roman" panose="02020603050405020304" pitchFamily="18" charset="0"/>
              </a:rPr>
              <a:t>Enhance the customer booking experience through an efficient and user-friendly system. </a:t>
            </a:r>
          </a:p>
          <a:p>
            <a:pPr lvl="0">
              <a:lnSpc>
                <a:spcPct val="150000"/>
              </a:lnSpc>
            </a:pPr>
            <a:r>
              <a:rPr lang="en-IN" sz="1800" dirty="0">
                <a:latin typeface="Times New Roman" panose="02020603050405020304" pitchFamily="18" charset="0"/>
                <a:cs typeface="Times New Roman" panose="02020603050405020304" pitchFamily="18" charset="0"/>
              </a:rPr>
              <a:t>Support data-driven decision-making for hotel management.</a:t>
            </a:r>
          </a:p>
          <a:p>
            <a:pPr marL="0" indent="0">
              <a:lnSpc>
                <a:spcPct val="150000"/>
              </a:lnSpc>
              <a:buNone/>
            </a:pPr>
            <a:r>
              <a:rPr lang="en-IN" sz="1800" dirty="0">
                <a:latin typeface="Times New Roman" panose="02020603050405020304" pitchFamily="18" charset="0"/>
                <a:cs typeface="Times New Roman" panose="02020603050405020304" pitchFamily="18" charset="0"/>
              </a:rPr>
              <a:t> </a:t>
            </a:r>
          </a:p>
          <a:p>
            <a:pPr>
              <a:lnSpc>
                <a:spcPct val="150000"/>
              </a:lnSpc>
            </a:pPr>
            <a:endParaRPr lang="en-IN" sz="1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11D0611-6549-8470-4727-0074C323D0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0" name="Picture 9">
            <a:extLst>
              <a:ext uri="{FF2B5EF4-FFF2-40B4-BE49-F238E27FC236}">
                <a16:creationId xmlns:a16="http://schemas.microsoft.com/office/drawing/2014/main" id="{78443534-924A-DA1B-0A3F-46503F7DD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Tree>
    <p:extLst>
      <p:ext uri="{BB962C8B-B14F-4D97-AF65-F5344CB8AC3E}">
        <p14:creationId xmlns:p14="http://schemas.microsoft.com/office/powerpoint/2010/main" val="3817997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949849-DEE9-7AD1-0F9E-A3D2C42C7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7AF46-6CC6-B716-566C-B29456B077DC}"/>
              </a:ext>
            </a:extLst>
          </p:cNvPr>
          <p:cNvSpPr>
            <a:spLocks noGrp="1"/>
          </p:cNvSpPr>
          <p:nvPr>
            <p:ph type="title"/>
          </p:nvPr>
        </p:nvSpPr>
        <p:spPr>
          <a:xfrm>
            <a:off x="1185121" y="336134"/>
            <a:ext cx="9557259" cy="708555"/>
          </a:xfrm>
        </p:spPr>
        <p:txBody>
          <a:bodyPr vert="horz" lIns="91440" tIns="45720" rIns="91440" bIns="45720" rtlCol="0" anchor="b">
            <a:noAutofit/>
          </a:bodyPr>
          <a:lstStyle/>
          <a:p>
            <a:pPr algn="ctr">
              <a:lnSpc>
                <a:spcPct val="150000"/>
              </a:lnSpc>
            </a:pPr>
            <a:r>
              <a:rPr lang="en-US" sz="3600" b="1" dirty="0">
                <a:latin typeface="Times New Roman"/>
                <a:cs typeface="Times New Roman"/>
              </a:rPr>
              <a:t>REFERENCES</a:t>
            </a:r>
          </a:p>
        </p:txBody>
      </p:sp>
      <p:sp>
        <p:nvSpPr>
          <p:cNvPr id="3" name="Content Placeholder 2">
            <a:extLst>
              <a:ext uri="{FF2B5EF4-FFF2-40B4-BE49-F238E27FC236}">
                <a16:creationId xmlns:a16="http://schemas.microsoft.com/office/drawing/2014/main" id="{56DBFDF9-34C5-ABCF-457B-653A9A084A51}"/>
              </a:ext>
            </a:extLst>
          </p:cNvPr>
          <p:cNvSpPr>
            <a:spLocks noGrp="1"/>
          </p:cNvSpPr>
          <p:nvPr>
            <p:ph idx="1"/>
          </p:nvPr>
        </p:nvSpPr>
        <p:spPr>
          <a:xfrm>
            <a:off x="1185121" y="1626198"/>
            <a:ext cx="10515600" cy="5006975"/>
          </a:xfrm>
        </p:spPr>
        <p:txBody>
          <a:bodyPr>
            <a:normAutofit/>
          </a:bodyPr>
          <a:lstStyle/>
          <a:p>
            <a:pPr>
              <a:lnSpc>
                <a:spcPct val="150000"/>
              </a:lnSpc>
            </a:pPr>
            <a:r>
              <a:rPr lang="en-IN" sz="1600" dirty="0">
                <a:latin typeface="Times New Roman" panose="02020603050405020304" pitchFamily="18" charset="0"/>
                <a:cs typeface="Times New Roman" panose="02020603050405020304" pitchFamily="18" charset="0"/>
              </a:rPr>
              <a:t>[[1] H. Abdel Aziz, M. Saleh, M. H. Rasmy, and H. </a:t>
            </a:r>
            <a:r>
              <a:rPr lang="en-IN" sz="1600" dirty="0" err="1">
                <a:latin typeface="Times New Roman" panose="02020603050405020304" pitchFamily="18" charset="0"/>
                <a:cs typeface="Times New Roman" panose="02020603050405020304" pitchFamily="18" charset="0"/>
              </a:rPr>
              <a:t>ElShishiny</a:t>
            </a:r>
            <a:r>
              <a:rPr lang="en-IN" sz="1600" dirty="0">
                <a:latin typeface="Times New Roman" panose="02020603050405020304" pitchFamily="18" charset="0"/>
                <a:cs typeface="Times New Roman" panose="02020603050405020304" pitchFamily="18" charset="0"/>
              </a:rPr>
              <a:t>, “Dynamic Room Pricing Model for Hotel Revenue Management Systems,” </a:t>
            </a:r>
            <a:r>
              <a:rPr lang="en-IN" sz="1600" i="1" dirty="0">
                <a:latin typeface="Times New Roman" panose="02020603050405020304" pitchFamily="18" charset="0"/>
                <a:cs typeface="Times New Roman" panose="02020603050405020304" pitchFamily="18" charset="0"/>
              </a:rPr>
              <a:t>Egyptian Informatics Journal</a:t>
            </a:r>
            <a:r>
              <a:rPr lang="en-IN" sz="1600" dirty="0">
                <a:latin typeface="Times New Roman" panose="02020603050405020304" pitchFamily="18" charset="0"/>
                <a:cs typeface="Times New Roman" panose="02020603050405020304" pitchFamily="18" charset="0"/>
              </a:rPr>
              <a:t>, vol. 12, no. 3, pp. 177–183, 2011. </a:t>
            </a:r>
          </a:p>
          <a:p>
            <a:pPr>
              <a:lnSpc>
                <a:spcPct val="150000"/>
              </a:lnSpc>
            </a:pPr>
            <a:r>
              <a:rPr lang="en-IN" sz="1600" dirty="0">
                <a:latin typeface="Times New Roman" panose="02020603050405020304" pitchFamily="18" charset="0"/>
                <a:cs typeface="Times New Roman" panose="02020603050405020304" pitchFamily="18" charset="0"/>
              </a:rPr>
              <a:t>[2] A. M. Bayoumi, M. Saleh, A. F. Atiya, and H. Abdel Aziz, “Dynamic Pricing for Hotel Revenue Management Using Price Multipliers,” </a:t>
            </a:r>
            <a:r>
              <a:rPr lang="en-IN" sz="1600" i="1" dirty="0">
                <a:latin typeface="Times New Roman" panose="02020603050405020304" pitchFamily="18" charset="0"/>
                <a:cs typeface="Times New Roman" panose="02020603050405020304" pitchFamily="18" charset="0"/>
              </a:rPr>
              <a:t>Journal of Revenue and Pricing Management</a:t>
            </a:r>
            <a:r>
              <a:rPr lang="en-IN" sz="1600" dirty="0">
                <a:latin typeface="Times New Roman" panose="02020603050405020304" pitchFamily="18" charset="0"/>
                <a:cs typeface="Times New Roman" panose="02020603050405020304" pitchFamily="18" charset="0"/>
              </a:rPr>
              <a:t>, vol. 12, no. 3, pp. 271–285, 2013. </a:t>
            </a:r>
          </a:p>
          <a:p>
            <a:pPr>
              <a:lnSpc>
                <a:spcPct val="150000"/>
              </a:lnSpc>
            </a:pPr>
            <a:r>
              <a:rPr lang="en-IN" sz="1600" dirty="0">
                <a:latin typeface="Times New Roman" panose="02020603050405020304" pitchFamily="18" charset="0"/>
                <a:cs typeface="Times New Roman" panose="02020603050405020304" pitchFamily="18" charset="0"/>
              </a:rPr>
              <a:t>[3] A. M. </a:t>
            </a:r>
            <a:r>
              <a:rPr lang="en-IN" sz="1600" dirty="0" err="1">
                <a:latin typeface="Times New Roman" panose="02020603050405020304" pitchFamily="18" charset="0"/>
                <a:cs typeface="Times New Roman" panose="02020603050405020304" pitchFamily="18" charset="0"/>
              </a:rPr>
              <a:t>Bandalouski</a:t>
            </a:r>
            <a:r>
              <a:rPr lang="en-IN" sz="1600" dirty="0">
                <a:latin typeface="Times New Roman" panose="02020603050405020304" pitchFamily="18" charset="0"/>
                <a:cs typeface="Times New Roman" panose="02020603050405020304" pitchFamily="18" charset="0"/>
              </a:rPr>
              <a:t>, N. G. Egorova, M. Y. Kovalyov, E. Pesch, and S. A. Tarim, “Dynamic Pricing with Demand Disaggregation for Hotel Revenue Management,” </a:t>
            </a:r>
            <a:r>
              <a:rPr lang="en-IN" sz="1600" i="1" dirty="0">
                <a:latin typeface="Times New Roman" panose="02020603050405020304" pitchFamily="18" charset="0"/>
                <a:cs typeface="Times New Roman" panose="02020603050405020304" pitchFamily="18" charset="0"/>
              </a:rPr>
              <a:t>Journal of Heuristics</a:t>
            </a:r>
            <a:r>
              <a:rPr lang="en-IN" sz="1600" dirty="0">
                <a:latin typeface="Times New Roman" panose="02020603050405020304" pitchFamily="18" charset="0"/>
                <a:cs typeface="Times New Roman" panose="02020603050405020304" pitchFamily="18" charset="0"/>
              </a:rPr>
              <a:t>, vol. 27, no. 5, pp. 721–751, 2021. </a:t>
            </a:r>
          </a:p>
          <a:p>
            <a:pPr>
              <a:lnSpc>
                <a:spcPct val="150000"/>
              </a:lnSpc>
            </a:pPr>
            <a:r>
              <a:rPr lang="en-IN" sz="1600" dirty="0">
                <a:latin typeface="Times New Roman" panose="02020603050405020304" pitchFamily="18" charset="0"/>
                <a:cs typeface="Times New Roman" panose="02020603050405020304" pitchFamily="18" charset="0"/>
              </a:rPr>
              <a:t>[4] F. Zhu, W. Xiao, Y. Yu, Z. Wang, Z. Chen, Q. Lu, Z. Liu, M. Wu, and S. Ni, “</a:t>
            </a:r>
            <a:r>
              <a:rPr lang="en-IN" sz="1600" dirty="0" err="1">
                <a:latin typeface="Times New Roman" panose="02020603050405020304" pitchFamily="18" charset="0"/>
                <a:cs typeface="Times New Roman" panose="02020603050405020304" pitchFamily="18" charset="0"/>
              </a:rPr>
              <a:t>Modeling</a:t>
            </a:r>
            <a:r>
              <a:rPr lang="en-IN" sz="1600" dirty="0">
                <a:latin typeface="Times New Roman" panose="02020603050405020304" pitchFamily="18" charset="0"/>
                <a:cs typeface="Times New Roman" panose="02020603050405020304" pitchFamily="18" charset="0"/>
              </a:rPr>
              <a:t> Price Elasticity for Occupancy Prediction in Hotel Dynamic Pricing,” 2022. </a:t>
            </a:r>
          </a:p>
          <a:p>
            <a:pPr>
              <a:lnSpc>
                <a:spcPct val="150000"/>
              </a:lnSpc>
            </a:pPr>
            <a:r>
              <a:rPr lang="en-IN" sz="1600" dirty="0">
                <a:latin typeface="Times New Roman" panose="02020603050405020304" pitchFamily="18" charset="0"/>
                <a:cs typeface="Times New Roman" panose="02020603050405020304" pitchFamily="18" charset="0"/>
              </a:rPr>
              <a:t>[5] J. Gao, “Optimizing Hotel Revenue Management Through Dynamic Pricing Algorithms and Data Analysis,” </a:t>
            </a:r>
            <a:r>
              <a:rPr lang="en-IN" sz="1600" i="1" dirty="0">
                <a:latin typeface="Times New Roman" panose="02020603050405020304" pitchFamily="18" charset="0"/>
                <a:cs typeface="Times New Roman" panose="02020603050405020304" pitchFamily="18" charset="0"/>
              </a:rPr>
              <a:t>Journal of Revenue and Pricing Management</a:t>
            </a:r>
            <a:r>
              <a:rPr lang="en-IN" sz="1600" dirty="0">
                <a:latin typeface="Times New Roman" panose="02020603050405020304" pitchFamily="18" charset="0"/>
                <a:cs typeface="Times New Roman" panose="02020603050405020304" pitchFamily="18" charset="0"/>
              </a:rPr>
              <a:t>, vol. 24, 2025. </a:t>
            </a:r>
          </a:p>
          <a:p>
            <a:pPr>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96EE283-5A48-F967-1503-D293A63B5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67" y="70325"/>
            <a:ext cx="1083521" cy="1240175"/>
          </a:xfrm>
          <a:prstGeom prst="rect">
            <a:avLst/>
          </a:prstGeom>
        </p:spPr>
      </p:pic>
      <p:pic>
        <p:nvPicPr>
          <p:cNvPr id="10" name="Picture 9">
            <a:extLst>
              <a:ext uri="{FF2B5EF4-FFF2-40B4-BE49-F238E27FC236}">
                <a16:creationId xmlns:a16="http://schemas.microsoft.com/office/drawing/2014/main" id="{0898710D-B23E-CE30-2CDC-18967B84F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2380" y="91556"/>
            <a:ext cx="1415753" cy="1218944"/>
          </a:xfrm>
          <a:prstGeom prst="rect">
            <a:avLst/>
          </a:prstGeom>
        </p:spPr>
      </p:pic>
    </p:spTree>
    <p:extLst>
      <p:ext uri="{BB962C8B-B14F-4D97-AF65-F5344CB8AC3E}">
        <p14:creationId xmlns:p14="http://schemas.microsoft.com/office/powerpoint/2010/main" val="1037534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Graphic 9" descr="Two cute robots"/>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
            <a:ext cx="12262104" cy="6897433"/>
          </a:xfrm>
          <a:prstGeom prst="rect">
            <a:avLst/>
          </a:prstGeom>
        </p:spPr>
      </p:pic>
      <p:sp>
        <p:nvSpPr>
          <p:cNvPr id="15" name="Rectangle 14"/>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p:cNvSpPr>
            <a:spLocks noGrp="1" noRot="1" noChangeAspect="1" noMove="1" noResize="1" noEditPoints="1" noAdjustHandles="1" noChangeArrowheads="1" noChangeShapeType="1" noTextEdit="1"/>
          </p:cNvSpPr>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a:spLocks noGrp="1" noRot="1" noChangeAspect="1" noMove="1" noResize="1" noEditPoints="1" noAdjustHandles="1" noChangeArrowheads="1" noChangeShapeType="1" noTextEdit="1"/>
          </p:cNvSpPr>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a:spLocks noGrp="1" noRot="1" noChangeAspect="1" noMove="1" noResize="1" noEditPoints="1" noAdjustHandles="1" noChangeArrowheads="1" noChangeShapeType="1" noTextEdit="1"/>
          </p:cNvSpPr>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p:cNvSpPr>
            <a:spLocks noGrp="1" noRot="1" noChangeAspect="1" noMove="1" noResize="1" noEditPoints="1" noAdjustHandles="1" noChangeArrowheads="1" noChangeShapeType="1" noTextEdit="1"/>
          </p:cNvSpPr>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Isosceles Triangle 24"/>
          <p:cNvSpPr>
            <a:spLocks noGrp="1" noRot="1" noChangeAspect="1" noMove="1" noResize="1" noEditPoints="1" noAdjustHandles="1" noChangeArrowheads="1" noChangeShapeType="1" noTextEdit="1"/>
          </p:cNvSpPr>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p:cNvSpPr>
            <a:spLocks noGrp="1" noRot="1" noChangeAspect="1" noMove="1" noResize="1" noEditPoints="1" noAdjustHandles="1" noChangeArrowheads="1" noChangeShapeType="1" noTextEdit="1"/>
          </p:cNvSpPr>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Handshake with solid fill">
            <a:extLst>
              <a:ext uri="{FF2B5EF4-FFF2-40B4-BE49-F238E27FC236}">
                <a16:creationId xmlns:a16="http://schemas.microsoft.com/office/drawing/2014/main" id="{2268129A-6C12-FCA3-0B81-23A122BE68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03429" y="288485"/>
            <a:ext cx="5055246" cy="4628955"/>
          </a:xfrm>
          <a:prstGeom prst="rect">
            <a:avLst/>
          </a:prstGeom>
        </p:spPr>
      </p:pic>
      <p:sp>
        <p:nvSpPr>
          <p:cNvPr id="2" name="TextBox 1">
            <a:extLst>
              <a:ext uri="{FF2B5EF4-FFF2-40B4-BE49-F238E27FC236}">
                <a16:creationId xmlns:a16="http://schemas.microsoft.com/office/drawing/2014/main" id="{4D0D071B-117F-746C-0B3A-9584FBF46E21}"/>
              </a:ext>
            </a:extLst>
          </p:cNvPr>
          <p:cNvSpPr txBox="1"/>
          <p:nvPr/>
        </p:nvSpPr>
        <p:spPr>
          <a:xfrm>
            <a:off x="0" y="4592320"/>
            <a:ext cx="12192000" cy="1015663"/>
          </a:xfrm>
          <a:prstGeom prst="rect">
            <a:avLst/>
          </a:prstGeom>
          <a:noFill/>
        </p:spPr>
        <p:txBody>
          <a:bodyPr wrap="square" rtlCol="0">
            <a:spAutoFit/>
          </a:bodyPr>
          <a:lstStyle/>
          <a:p>
            <a:pPr algn="ctr"/>
            <a:r>
              <a:rPr lang="en-GB" sz="6000" b="1" dirty="0">
                <a:latin typeface="Times New Roman" panose="02020603050405020304" pitchFamily="18" charset="0"/>
                <a:cs typeface="Times New Roman" panose="02020603050405020304" pitchFamily="18" charset="0"/>
              </a:rPr>
              <a:t>THANK YOU</a:t>
            </a:r>
            <a:endParaRPr lang="en-IN" sz="60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755</TotalTime>
  <Words>1574</Words>
  <Application>Microsoft Office PowerPoint</Application>
  <PresentationFormat>Widescreen</PresentationFormat>
  <Paragraphs>206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CAPSTONE PROJECT PRESENTATION CSA0905 – PROGRAMMING IN JAVA</vt:lpstr>
      <vt:lpstr>Problem Background</vt:lpstr>
      <vt:lpstr>Problem Statement</vt:lpstr>
      <vt:lpstr>OBJECTIVES</vt:lpstr>
      <vt:lpstr>LITERATURE REVEIW</vt:lpstr>
      <vt:lpstr>Existing vs Proposed </vt:lpstr>
      <vt:lpstr>Requirements</vt:lpstr>
      <vt:lpstr>ARCHITECTURE</vt:lpstr>
      <vt:lpstr>Module description</vt:lpstr>
      <vt:lpstr>PLANNING</vt:lpstr>
      <vt:lpstr>Planning: Risk Analysis</vt:lpstr>
      <vt:lpstr>Expected Outcomes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Kirthanaa Balaji</dc:creator>
  <cp:lastModifiedBy>maram sripathi</cp:lastModifiedBy>
  <cp:revision>37</cp:revision>
  <dcterms:created xsi:type="dcterms:W3CDTF">2025-06-23T12:00:00Z</dcterms:created>
  <dcterms:modified xsi:type="dcterms:W3CDTF">2026-08-06T16:01:03Z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FF230CA4A29841F39FA30A26B84EDE3F_13</vt:lpwstr>
  </property>
  <property fmtid="{D5CDD505-2E9C-101B-9397-08002B2CF9AE}" pid="3" name="KSOProductBuildVer">
    <vt:lpwstr>1033-12.2.0.23155</vt:lpwstr>
  </property>
</Properties>
</file>